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8CA9AAF-41D0-44E8-AE1D-C9395A4F1837}">
          <p14:sldIdLst/>
        </p14:section>
        <p14:section name="Untitled Section" id="{718B25D2-55D4-4324-88E1-D1F1E3EE9C36}">
          <p14:sldIdLst>
            <p14:sldId id="257"/>
            <p14:sldId id="258"/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8391"/>
    <a:srgbClr val="A9BE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BBF66-CE98-BCE1-BF78-5D44A045A6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B12708-A56A-9A3F-0E79-7A13E8A985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026800-2580-6DAC-2F37-0C9F7A6F0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98A8D-735D-49EB-8BD7-7C19969991DF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271F45-2BDE-6519-7B70-A1D6CB55E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BE4CC-C513-A3AA-2327-D6531D74E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AE8A9-48D2-40BB-8F23-4526645776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74448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33762-3457-3873-DF5C-277503F7B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CCEC1-0F88-2A0C-4D7C-49AC51F7DD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50C4E2-C2D0-8B05-5A83-EBB2BA8A7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98A8D-735D-49EB-8BD7-7C19969991DF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7B797F-D13F-B1C4-C36D-72515D61E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2957B1-258F-E571-A347-17918BB11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AE8A9-48D2-40BB-8F23-4526645776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41100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5ED33-CAE2-6BAD-D64C-68F2AA46D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75DFA5-22D3-2F6B-BFC2-108CCA4328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6C0B2-AA77-EF9E-7D05-36DE8834A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98A8D-735D-49EB-8BD7-7C19969991DF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25C6BC-D668-076E-FF05-4897490B8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911106-9F9D-2F77-7EE1-2EFAB7112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AE8A9-48D2-40BB-8F23-4526645776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9921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EAC16-EA2F-BF07-A618-56E9F331C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F4EDCC-8BF4-A875-9802-78C9B4E2AD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51D079-9238-7278-912C-75ABD10140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6150D2-2FAD-4522-3111-FDF569D82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98A8D-735D-49EB-8BD7-7C19969991DF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714AA2-2C2E-4E72-1526-BC331E4C7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F90983-0C47-5AD6-ED90-5C625668F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AE8A9-48D2-40BB-8F23-4526645776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24822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7EEF8-6C47-E274-B1BF-58CF36395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5F2988-DF1C-DB92-2357-3BA7BE9194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062F3E-EDA1-DF0B-520D-86B399EBEA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F6A948-D141-AB7A-6B81-D0BBEA841B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C9016A-815F-508E-C76A-5ACC010CC3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EBEB64-9314-5688-981A-4C4FA888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98A8D-735D-49EB-8BD7-7C19969991DF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A86102-8696-281E-368B-52647096B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AC9BB3-4DE5-504C-DC36-9E4CC1164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AE8A9-48D2-40BB-8F23-4526645776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87137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9C671-249E-D536-2CAE-B1AC5608D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C60801-8203-C0C6-4881-549D7EC04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98A8D-735D-49EB-8BD7-7C19969991DF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FF609B-8596-7EDC-454F-7A70FB7B2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341FF7-B5FB-1DD0-C876-AE203ECB5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AE8A9-48D2-40BB-8F23-4526645776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94846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1DC6F9-7F2B-B421-0E65-1AF3F8E2F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98A8D-735D-49EB-8BD7-7C19969991DF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D1F9B5-4853-26A0-7481-83FA6C376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5FF2D7-288A-208B-1C07-922D1E492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AE8A9-48D2-40BB-8F23-4526645776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10704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CD911-B238-D7D4-611A-5D551FE43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07858D-6D90-E214-0F21-E9F0402562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8ACB2A-A108-C434-1DEE-594AC55B0D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3FFB37-F2EC-4395-B98D-07CCDED39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98A8D-735D-49EB-8BD7-7C19969991DF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C95682-2161-19B8-E8B5-1125D8A61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205761-C5F8-68C1-6E57-B0BF9E3E4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AE8A9-48D2-40BB-8F23-4526645776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01572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D22E1-A78E-CF28-A2F5-0F3E27466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77A0B7-99BC-87FF-BE37-5E3A2212D3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FFC2AE-6B98-13D8-B44A-8C6933EE6A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8CFFA3-2C7E-C272-F300-827C91901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98A8D-735D-49EB-8BD7-7C19969991DF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57FA7F-7B29-FE95-BE01-F3D010BAA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410BB1-4768-4E3F-4A08-0E9DCB5E5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AE8A9-48D2-40BB-8F23-4526645776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06802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B0E07-D10E-D4F1-AB18-D730E85D7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1738FE-2530-04E0-5438-E9D211CB57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64632-4CFA-92CA-6DCA-80D8C92AE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98A8D-735D-49EB-8BD7-7C19969991DF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BC77E8-1218-C28E-3FD2-4989741DF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D5E0ED-9F90-D435-FA6C-019E19016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AE8A9-48D2-40BB-8F23-4526645776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28017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C7F320-A1EA-F7D9-C169-A354660E62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9F7E95-4A40-1824-D64A-B6C57BC4DA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4B9347-DCFB-26F0-02E9-D1061CB8B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98A8D-735D-49EB-8BD7-7C19969991DF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FE8BFB-292C-DAE1-70FB-DFAB263F4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1CDD38-59E1-EE6D-75A4-F98D71F36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AE8A9-48D2-40BB-8F23-4526645776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03085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73E12C-9069-4EE6-F54C-27E500CE5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C53C13-F951-B728-533B-4E475DF750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0C3075-055E-5908-174C-6B3C2B4689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F98A8D-735D-49EB-8BD7-7C19969991DF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E0C66B-8E91-F6E1-F010-62614615D0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B259C-6031-56F1-AB57-37CC56C819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FAE8A9-48D2-40BB-8F23-4526645776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7457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3" Type="http://schemas.openxmlformats.org/officeDocument/2006/relationships/image" Target="../media/image4.png"/><Relationship Id="rId21" Type="http://schemas.openxmlformats.org/officeDocument/2006/relationships/image" Target="../media/image22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" Type="http://schemas.openxmlformats.org/officeDocument/2006/relationships/image" Target="../media/image1.jpg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23" Type="http://schemas.openxmlformats.org/officeDocument/2006/relationships/image" Target="../media/image24.png"/><Relationship Id="rId10" Type="http://schemas.openxmlformats.org/officeDocument/2006/relationships/image" Target="../media/image11.png"/><Relationship Id="rId19" Type="http://schemas.openxmlformats.org/officeDocument/2006/relationships/image" Target="../media/image20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Relationship Id="rId22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C496DE9-2EED-17E6-0DB2-C99F3E3B2268}"/>
              </a:ext>
            </a:extLst>
          </p:cNvPr>
          <p:cNvSpPr/>
          <p:nvPr/>
        </p:nvSpPr>
        <p:spPr>
          <a:xfrm>
            <a:off x="820264" y="369608"/>
            <a:ext cx="8452507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IN" sz="48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SMART INDIA HACKATHON 2026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6F1179-A2D8-12E3-B40C-74C92C560A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2771" y="0"/>
            <a:ext cx="1836593" cy="183659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0898936-0F1C-0956-583D-7F9234F2FFFC}"/>
              </a:ext>
            </a:extLst>
          </p:cNvPr>
          <p:cNvSpPr txBox="1"/>
          <p:nvPr/>
        </p:nvSpPr>
        <p:spPr>
          <a:xfrm>
            <a:off x="10713893" y="456631"/>
            <a:ext cx="31016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SMART INDIA             HACKATHON </a:t>
            </a:r>
          </a:p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      2026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2CFF77-0D18-064E-B8E9-1E14664E8E6D}"/>
              </a:ext>
            </a:extLst>
          </p:cNvPr>
          <p:cNvSpPr txBox="1"/>
          <p:nvPr/>
        </p:nvSpPr>
        <p:spPr>
          <a:xfrm>
            <a:off x="3932960" y="1418688"/>
            <a:ext cx="69099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03988CE-A484-1DFA-19E5-CCD75ACAE6CE}"/>
              </a:ext>
            </a:extLst>
          </p:cNvPr>
          <p:cNvSpPr txBox="1"/>
          <p:nvPr/>
        </p:nvSpPr>
        <p:spPr>
          <a:xfrm>
            <a:off x="259773" y="2119121"/>
            <a:ext cx="7128164" cy="4024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 –</a:t>
            </a:r>
            <a:r>
              <a:rPr lang="en-IN" sz="2800" dirty="0"/>
              <a:t>Urban Flood Nowcasting System (Drainage and Rainfall Coupling).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 –</a:t>
            </a:r>
            <a:r>
              <a:rPr lang="en-IN" sz="2800" dirty="0"/>
              <a:t>Disaster Management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IN" sz="2800" dirty="0"/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 –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– The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OutThinkers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Hexagon 19">
            <a:extLst>
              <a:ext uri="{FF2B5EF4-FFF2-40B4-BE49-F238E27FC236}">
                <a16:creationId xmlns:a16="http://schemas.microsoft.com/office/drawing/2014/main" id="{C2A6D853-D18D-0D19-6561-07340C8450E8}"/>
              </a:ext>
            </a:extLst>
          </p:cNvPr>
          <p:cNvSpPr/>
          <p:nvPr/>
        </p:nvSpPr>
        <p:spPr>
          <a:xfrm>
            <a:off x="11224008" y="5667196"/>
            <a:ext cx="967991" cy="1012040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Hexagon 21">
            <a:extLst>
              <a:ext uri="{FF2B5EF4-FFF2-40B4-BE49-F238E27FC236}">
                <a16:creationId xmlns:a16="http://schemas.microsoft.com/office/drawing/2014/main" id="{C1BED25D-A4A9-FA49-5CB7-6E11DC6A88AB}"/>
              </a:ext>
            </a:extLst>
          </p:cNvPr>
          <p:cNvSpPr/>
          <p:nvPr/>
        </p:nvSpPr>
        <p:spPr>
          <a:xfrm>
            <a:off x="7958295" y="2619294"/>
            <a:ext cx="3898550" cy="3605522"/>
          </a:xfrm>
          <a:prstGeom prst="hexagon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Hexagon 23">
            <a:extLst>
              <a:ext uri="{FF2B5EF4-FFF2-40B4-BE49-F238E27FC236}">
                <a16:creationId xmlns:a16="http://schemas.microsoft.com/office/drawing/2014/main" id="{35B86362-04E4-3EA7-4CF2-63859BC58E42}"/>
              </a:ext>
            </a:extLst>
          </p:cNvPr>
          <p:cNvSpPr/>
          <p:nvPr/>
        </p:nvSpPr>
        <p:spPr>
          <a:xfrm>
            <a:off x="7798450" y="1816436"/>
            <a:ext cx="1666169" cy="1367476"/>
          </a:xfrm>
          <a:prstGeom prst="hexagon">
            <a:avLst/>
          </a:prstGeom>
          <a:noFill/>
          <a:ln w="127000">
            <a:solidFill>
              <a:schemeClr val="accent1">
                <a:shade val="15000"/>
                <a:alpha val="12000"/>
              </a:schemeClr>
            </a:solidFill>
          </a:ln>
          <a:effectLst>
            <a:reflection stA="0" endPos="6500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5" name="Hexagon 24">
            <a:extLst>
              <a:ext uri="{FF2B5EF4-FFF2-40B4-BE49-F238E27FC236}">
                <a16:creationId xmlns:a16="http://schemas.microsoft.com/office/drawing/2014/main" id="{181C030A-98C6-99A0-CDF6-22CA0696D7D9}"/>
              </a:ext>
            </a:extLst>
          </p:cNvPr>
          <p:cNvSpPr/>
          <p:nvPr/>
        </p:nvSpPr>
        <p:spPr>
          <a:xfrm>
            <a:off x="7387938" y="3242796"/>
            <a:ext cx="781372" cy="723817"/>
          </a:xfrm>
          <a:prstGeom prst="hexagon">
            <a:avLst/>
          </a:prstGeom>
          <a:solidFill>
            <a:schemeClr val="bg2">
              <a:alpha val="71000"/>
            </a:schemeClr>
          </a:solidFill>
          <a:ln>
            <a:solidFill>
              <a:schemeClr val="accent1">
                <a:shade val="15000"/>
                <a:alpha val="2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D8C7189-A455-28F5-4496-76AD5070A6EE}"/>
              </a:ext>
            </a:extLst>
          </p:cNvPr>
          <p:cNvCxnSpPr/>
          <p:nvPr/>
        </p:nvCxnSpPr>
        <p:spPr>
          <a:xfrm>
            <a:off x="9272771" y="281354"/>
            <a:ext cx="0" cy="91925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F59EACC7-5EC6-8096-0382-CBDCEC2537E7}"/>
              </a:ext>
            </a:extLst>
          </p:cNvPr>
          <p:cNvSpPr txBox="1"/>
          <p:nvPr/>
        </p:nvSpPr>
        <p:spPr>
          <a:xfrm>
            <a:off x="588327" y="2119121"/>
            <a:ext cx="502428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26085</a:t>
            </a:r>
          </a:p>
          <a:p>
            <a:endParaRPr lang="en-IN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8173084-DDEA-9223-002E-C5B6B9AB10CB}"/>
              </a:ext>
            </a:extLst>
          </p:cNvPr>
          <p:cNvSpPr/>
          <p:nvPr/>
        </p:nvSpPr>
        <p:spPr>
          <a:xfrm>
            <a:off x="385984" y="2278767"/>
            <a:ext cx="76132" cy="71143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80840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01CFC42-D475-0228-F8FA-96B897C345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7864" y="0"/>
            <a:ext cx="1191926" cy="1191926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8AE2C0C-3DBF-CB1A-3956-8065DF3B6923}"/>
              </a:ext>
            </a:extLst>
          </p:cNvPr>
          <p:cNvCxnSpPr/>
          <p:nvPr/>
        </p:nvCxnSpPr>
        <p:spPr>
          <a:xfrm>
            <a:off x="9987864" y="93602"/>
            <a:ext cx="0" cy="91925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6BDDBEB-8D36-0948-D292-80E1C4E9E358}"/>
              </a:ext>
            </a:extLst>
          </p:cNvPr>
          <p:cNvSpPr txBox="1"/>
          <p:nvPr/>
        </p:nvSpPr>
        <p:spPr>
          <a:xfrm>
            <a:off x="114859" y="183896"/>
            <a:ext cx="2243469" cy="369332"/>
          </a:xfrm>
          <a:prstGeom prst="rect">
            <a:avLst/>
          </a:prstGeom>
          <a:blipFill dpi="0" rotWithShape="1">
            <a:blip r:embed="rId3">
              <a:alphaModFix amt="0"/>
            </a:blip>
            <a:srcRect/>
            <a:tile tx="0" ty="0" sx="100000" sy="100000" flip="none" algn="tl"/>
          </a:blipFill>
          <a:ln>
            <a:noFill/>
          </a:ln>
        </p:spPr>
        <p:txBody>
          <a:bodyPr wrap="square" rtlCol="0">
            <a:spAutoFit/>
          </a:bodyPr>
          <a:lstStyle/>
          <a:p>
            <a:endParaRPr lang="en-IN" b="1" dirty="0">
              <a:solidFill>
                <a:schemeClr val="accent1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01C5639-89CA-B3C8-7F75-0CBE5B176495}"/>
              </a:ext>
            </a:extLst>
          </p:cNvPr>
          <p:cNvSpPr txBox="1"/>
          <p:nvPr/>
        </p:nvSpPr>
        <p:spPr>
          <a:xfrm>
            <a:off x="2007431" y="183896"/>
            <a:ext cx="80227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Calisto MT" panose="02040603050505030304" pitchFamily="18" charset="0"/>
              </a:rPr>
              <a:t>IDEA &amp; PROPOSED SOLUTIONS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9B2064-5EAB-3B2D-0D42-50F1A0F13CA0}"/>
              </a:ext>
            </a:extLst>
          </p:cNvPr>
          <p:cNvSpPr txBox="1"/>
          <p:nvPr/>
        </p:nvSpPr>
        <p:spPr>
          <a:xfrm>
            <a:off x="0" y="28620"/>
            <a:ext cx="67990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pitchFamily="34" charset="0"/>
              </a:rPr>
              <a:t>THE</a:t>
            </a:r>
          </a:p>
          <a:p>
            <a:r>
              <a:rPr lang="en-IN" sz="1200" dirty="0" err="1">
                <a:solidFill>
                  <a:schemeClr val="accent2">
                    <a:lumMod val="75000"/>
                  </a:schemeClr>
                </a:solidFill>
                <a:latin typeface="Algerian" panose="04020705040A02060702" pitchFamily="82" charset="0"/>
              </a:rPr>
              <a:t>Out</a:t>
            </a:r>
            <a:r>
              <a:rPr lang="en-IN" sz="1200" b="1" dirty="0" err="1">
                <a:solidFill>
                  <a:schemeClr val="accent1">
                    <a:lumMod val="75000"/>
                  </a:schemeClr>
                </a:solidFill>
                <a:latin typeface="Arial Black" panose="020B0A04020102020204" pitchFamily="34" charset="0"/>
              </a:rPr>
              <a:t>THINKERS</a:t>
            </a:r>
            <a:endParaRPr lang="en-IN" sz="1200" b="1" dirty="0">
              <a:solidFill>
                <a:schemeClr val="accent1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3806B76-C459-B093-3FD2-1227ED02231B}"/>
              </a:ext>
            </a:extLst>
          </p:cNvPr>
          <p:cNvSpPr txBox="1"/>
          <p:nvPr/>
        </p:nvSpPr>
        <p:spPr>
          <a:xfrm>
            <a:off x="10925144" y="246703"/>
            <a:ext cx="230399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>
                <a:solidFill>
                  <a:schemeClr val="accent1">
                    <a:lumMod val="75000"/>
                  </a:schemeClr>
                </a:solidFill>
              </a:rPr>
              <a:t>SMART INDIA             HACKATHON </a:t>
            </a:r>
          </a:p>
          <a:p>
            <a:r>
              <a:rPr lang="en-IN" sz="1400" b="1" dirty="0">
                <a:solidFill>
                  <a:schemeClr val="accent1">
                    <a:lumMod val="75000"/>
                  </a:schemeClr>
                </a:solidFill>
              </a:rPr>
              <a:t>      2026</a:t>
            </a:r>
          </a:p>
        </p:txBody>
      </p:sp>
    </p:spTree>
    <p:extLst>
      <p:ext uri="{BB962C8B-B14F-4D97-AF65-F5344CB8AC3E}">
        <p14:creationId xmlns:p14="http://schemas.microsoft.com/office/powerpoint/2010/main" val="35011406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78A3281-A5F4-03B7-6311-DF8ADD9B8F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4776" y="0"/>
            <a:ext cx="1191926" cy="119192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F506A76-4303-502A-D856-30C601705218}"/>
              </a:ext>
            </a:extLst>
          </p:cNvPr>
          <p:cNvSpPr txBox="1"/>
          <p:nvPr/>
        </p:nvSpPr>
        <p:spPr>
          <a:xfrm>
            <a:off x="10972800" y="226631"/>
            <a:ext cx="175997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>
                <a:solidFill>
                  <a:schemeClr val="accent1">
                    <a:lumMod val="75000"/>
                  </a:schemeClr>
                </a:solidFill>
              </a:rPr>
              <a:t>SMART INDIA             HACKATHON </a:t>
            </a:r>
          </a:p>
          <a:p>
            <a:r>
              <a:rPr lang="en-IN" sz="1400" b="1" dirty="0">
                <a:solidFill>
                  <a:schemeClr val="accent1">
                    <a:lumMod val="75000"/>
                  </a:schemeClr>
                </a:solidFill>
              </a:rPr>
              <a:t>      2026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518195C-DE00-9C5C-43B5-3903782A7FFA}"/>
              </a:ext>
            </a:extLst>
          </p:cNvPr>
          <p:cNvCxnSpPr/>
          <p:nvPr/>
        </p:nvCxnSpPr>
        <p:spPr>
          <a:xfrm>
            <a:off x="10004776" y="49474"/>
            <a:ext cx="0" cy="91925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9893C78-5097-921A-561D-C5AAFA3A6564}"/>
              </a:ext>
            </a:extLst>
          </p:cNvPr>
          <p:cNvSpPr txBox="1"/>
          <p:nvPr/>
        </p:nvSpPr>
        <p:spPr>
          <a:xfrm>
            <a:off x="0" y="47435"/>
            <a:ext cx="194432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pitchFamily="34" charset="0"/>
              </a:rPr>
              <a:t>THE</a:t>
            </a:r>
          </a:p>
          <a:p>
            <a:r>
              <a:rPr lang="en-IN" sz="1200" dirty="0" err="1">
                <a:solidFill>
                  <a:schemeClr val="accent2">
                    <a:lumMod val="75000"/>
                  </a:schemeClr>
                </a:solidFill>
                <a:latin typeface="Algerian" panose="04020705040A02060702" pitchFamily="82" charset="0"/>
              </a:rPr>
              <a:t>Out</a:t>
            </a:r>
            <a:r>
              <a:rPr lang="en-IN" sz="1200" b="1" dirty="0" err="1">
                <a:solidFill>
                  <a:schemeClr val="accent1">
                    <a:lumMod val="75000"/>
                  </a:schemeClr>
                </a:solidFill>
                <a:latin typeface="Arial Black" panose="020B0A04020102020204" pitchFamily="34" charset="0"/>
              </a:rPr>
              <a:t>THINKERS</a:t>
            </a:r>
            <a:endParaRPr lang="en-IN" sz="1200" b="1" dirty="0">
              <a:solidFill>
                <a:schemeClr val="accent1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1CA9ED-88B4-7CB2-D2ED-BCE153C3F745}"/>
              </a:ext>
            </a:extLst>
          </p:cNvPr>
          <p:cNvSpPr txBox="1"/>
          <p:nvPr/>
        </p:nvSpPr>
        <p:spPr>
          <a:xfrm>
            <a:off x="3424448" y="16657"/>
            <a:ext cx="46998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Calisto MT" panose="02040603050505030304" pitchFamily="18" charset="0"/>
                <a:ea typeface="Cascadia Code" panose="020B0609020000020004" pitchFamily="49" charset="0"/>
                <a:cs typeface="Cascadia Code" panose="020B0609020000020004" pitchFamily="49" charset="0"/>
              </a:rPr>
              <a:t>TECHNICAL APPROACH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BB168B0-FB36-ACE3-4E92-EA346B88B7DF}"/>
              </a:ext>
            </a:extLst>
          </p:cNvPr>
          <p:cNvSpPr/>
          <p:nvPr/>
        </p:nvSpPr>
        <p:spPr>
          <a:xfrm rot="16200000">
            <a:off x="3561994" y="-2768986"/>
            <a:ext cx="1622377" cy="8389039"/>
          </a:xfrm>
          <a:prstGeom prst="roundRect">
            <a:avLst/>
          </a:prstGeom>
          <a:solidFill>
            <a:schemeClr val="bg2">
              <a:lumMod val="90000"/>
              <a:alpha val="34000"/>
            </a:schemeClr>
          </a:solidFill>
          <a:ln w="254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88127811-F4D8-851E-ACAA-45E5E3038099}"/>
              </a:ext>
            </a:extLst>
          </p:cNvPr>
          <p:cNvSpPr/>
          <p:nvPr/>
        </p:nvSpPr>
        <p:spPr>
          <a:xfrm rot="16200000">
            <a:off x="3120967" y="-509264"/>
            <a:ext cx="2692958" cy="8389041"/>
          </a:xfrm>
          <a:prstGeom prst="roundRect">
            <a:avLst/>
          </a:prstGeom>
          <a:solidFill>
            <a:schemeClr val="accent1">
              <a:lumMod val="20000"/>
              <a:lumOff val="80000"/>
              <a:alpha val="44000"/>
            </a:schemeClr>
          </a:solidFill>
          <a:ln w="254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3B01E559-B425-B9A3-7687-251ABF5C1A8D}"/>
              </a:ext>
            </a:extLst>
          </p:cNvPr>
          <p:cNvSpPr/>
          <p:nvPr/>
        </p:nvSpPr>
        <p:spPr>
          <a:xfrm rot="16200000">
            <a:off x="3622776" y="1796364"/>
            <a:ext cx="1551981" cy="8389039"/>
          </a:xfrm>
          <a:prstGeom prst="roundRect">
            <a:avLst/>
          </a:prstGeom>
          <a:solidFill>
            <a:schemeClr val="bg1">
              <a:lumMod val="85000"/>
              <a:alpha val="45000"/>
            </a:schemeClr>
          </a:solidFill>
          <a:ln w="254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IN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513B851-AD6C-D724-DE5E-55871A245372}"/>
              </a:ext>
            </a:extLst>
          </p:cNvPr>
          <p:cNvSpPr txBox="1"/>
          <p:nvPr/>
        </p:nvSpPr>
        <p:spPr>
          <a:xfrm>
            <a:off x="366893" y="1162770"/>
            <a:ext cx="12105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INPUT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9F7E307-7DB5-ACEB-E29F-494038D3BD67}"/>
              </a:ext>
            </a:extLst>
          </p:cNvPr>
          <p:cNvSpPr txBox="1"/>
          <p:nvPr/>
        </p:nvSpPr>
        <p:spPr>
          <a:xfrm>
            <a:off x="366893" y="3063781"/>
            <a:ext cx="16885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HYDRAULIC</a:t>
            </a:r>
          </a:p>
          <a:p>
            <a:r>
              <a:rPr lang="en-IN" sz="2400" dirty="0"/>
              <a:t>ENGINE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1C6AEF3-ED9B-70F5-9D13-77B6258D617E}"/>
              </a:ext>
            </a:extLst>
          </p:cNvPr>
          <p:cNvSpPr txBox="1"/>
          <p:nvPr/>
        </p:nvSpPr>
        <p:spPr>
          <a:xfrm>
            <a:off x="336998" y="5713878"/>
            <a:ext cx="142875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OUTPUT</a:t>
            </a:r>
          </a:p>
          <a:p>
            <a:endParaRPr lang="en-IN" dirty="0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28F581AF-C650-5BBE-43E5-223B28B0FC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8787" y="676724"/>
            <a:ext cx="1307964" cy="1061728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A8547CB5-0FF9-78AE-7E6B-70557E72AF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6650" y="696583"/>
            <a:ext cx="1399361" cy="1052376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BAE54E54-351B-425F-5065-C83238C73D4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0287" y="699192"/>
            <a:ext cx="1478682" cy="1049768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BF416200-13DC-4BA1-F9F0-3C703943E58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8970" y="696583"/>
            <a:ext cx="1332664" cy="1049768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4FAFFB8C-B9D1-A115-1B54-C53DEF87071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2505" y="696583"/>
            <a:ext cx="1307079" cy="1049768"/>
          </a:xfrm>
          <a:prstGeom prst="rect">
            <a:avLst/>
          </a:prstGeom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C9628FFD-E8F1-B39A-CE0D-E23B5090E127}"/>
              </a:ext>
            </a:extLst>
          </p:cNvPr>
          <p:cNvSpPr txBox="1"/>
          <p:nvPr/>
        </p:nvSpPr>
        <p:spPr>
          <a:xfrm>
            <a:off x="1532490" y="1715990"/>
            <a:ext cx="16575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Rainfall/Radar  Nowcast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04C1A9D-0234-4B85-02E5-A5EA9B4232AF}"/>
              </a:ext>
            </a:extLst>
          </p:cNvPr>
          <p:cNvSpPr txBox="1"/>
          <p:nvPr/>
        </p:nvSpPr>
        <p:spPr>
          <a:xfrm>
            <a:off x="3222156" y="1699510"/>
            <a:ext cx="12832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High-res</a:t>
            </a:r>
          </a:p>
          <a:p>
            <a:r>
              <a:rPr lang="en-IN" sz="1400" b="1" dirty="0"/>
              <a:t>Dem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29085FF-0823-98F7-F492-4A8AD57BC326}"/>
              </a:ext>
            </a:extLst>
          </p:cNvPr>
          <p:cNvSpPr txBox="1"/>
          <p:nvPr/>
        </p:nvSpPr>
        <p:spPr>
          <a:xfrm>
            <a:off x="4537580" y="1724235"/>
            <a:ext cx="12624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Drainage </a:t>
            </a:r>
          </a:p>
          <a:p>
            <a:r>
              <a:rPr lang="en-IN" sz="1400" b="1" dirty="0"/>
              <a:t>Network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6CDB4C9-1069-D90F-8025-7B587A93FA51}"/>
              </a:ext>
            </a:extLst>
          </p:cNvPr>
          <p:cNvSpPr txBox="1"/>
          <p:nvPr/>
        </p:nvSpPr>
        <p:spPr>
          <a:xfrm>
            <a:off x="6049171" y="1715990"/>
            <a:ext cx="14014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Roads/</a:t>
            </a:r>
          </a:p>
          <a:p>
            <a:r>
              <a:rPr lang="en-IN" sz="1400" b="1" dirty="0"/>
              <a:t>Land- use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15AF360-E2CB-368E-5EE8-7712F64F8DC4}"/>
              </a:ext>
            </a:extLst>
          </p:cNvPr>
          <p:cNvSpPr txBox="1"/>
          <p:nvPr/>
        </p:nvSpPr>
        <p:spPr>
          <a:xfrm>
            <a:off x="7457897" y="1713503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Citizen</a:t>
            </a:r>
          </a:p>
          <a:p>
            <a:r>
              <a:rPr lang="en-IN" sz="1400" b="1" dirty="0"/>
              <a:t>Reports</a:t>
            </a:r>
          </a:p>
        </p:txBody>
      </p:sp>
      <p:pic>
        <p:nvPicPr>
          <p:cNvPr id="66" name="Picture 65">
            <a:extLst>
              <a:ext uri="{FF2B5EF4-FFF2-40B4-BE49-F238E27FC236}">
                <a16:creationId xmlns:a16="http://schemas.microsoft.com/office/drawing/2014/main" id="{18396D2E-4F3F-9174-63F5-760AA47B50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6496" y="2612286"/>
            <a:ext cx="982564" cy="777098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6C485856-FB60-6B59-A2ED-482163D985D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1794" y="2604768"/>
            <a:ext cx="982564" cy="822459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A26CE529-3619-C5CA-8B29-BBC3198631B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9272" y="2606540"/>
            <a:ext cx="982563" cy="822458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A59A3C3C-9DBC-099A-84B7-91FC8D1D85F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0150" y="3758973"/>
            <a:ext cx="999492" cy="760188"/>
          </a:xfrm>
          <a:prstGeom prst="rect">
            <a:avLst/>
          </a:prstGeom>
        </p:spPr>
      </p:pic>
      <p:pic>
        <p:nvPicPr>
          <p:cNvPr id="74" name="Picture 73">
            <a:extLst>
              <a:ext uri="{FF2B5EF4-FFF2-40B4-BE49-F238E27FC236}">
                <a16:creationId xmlns:a16="http://schemas.microsoft.com/office/drawing/2014/main" id="{81A7E37A-819A-C9F2-51FB-4A461AE5D54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4865" y="3775546"/>
            <a:ext cx="999493" cy="760188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DDFED011-79AC-E9D6-7C65-BD16781F0E2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4089" y="3775546"/>
            <a:ext cx="982564" cy="705014"/>
          </a:xfrm>
          <a:prstGeom prst="rect">
            <a:avLst/>
          </a:prstGeom>
        </p:spPr>
      </p:pic>
      <p:sp>
        <p:nvSpPr>
          <p:cNvPr id="77" name="TextBox 76">
            <a:extLst>
              <a:ext uri="{FF2B5EF4-FFF2-40B4-BE49-F238E27FC236}">
                <a16:creationId xmlns:a16="http://schemas.microsoft.com/office/drawing/2014/main" id="{31307789-0105-70EA-7D2F-3B720C04D681}"/>
              </a:ext>
            </a:extLst>
          </p:cNvPr>
          <p:cNvSpPr txBox="1"/>
          <p:nvPr/>
        </p:nvSpPr>
        <p:spPr>
          <a:xfrm>
            <a:off x="2345749" y="3346172"/>
            <a:ext cx="16885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Rainfall   Runoff</a:t>
            </a:r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CEDB8580-DFBD-F641-395C-66D374767E8A}"/>
              </a:ext>
            </a:extLst>
          </p:cNvPr>
          <p:cNvCxnSpPr>
            <a:cxnSpLocks/>
          </p:cNvCxnSpPr>
          <p:nvPr/>
        </p:nvCxnSpPr>
        <p:spPr>
          <a:xfrm>
            <a:off x="2946650" y="3500061"/>
            <a:ext cx="17491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69416F-DB41-C1BE-4EF3-6C347ECB6004}"/>
              </a:ext>
            </a:extLst>
          </p:cNvPr>
          <p:cNvSpPr txBox="1"/>
          <p:nvPr/>
        </p:nvSpPr>
        <p:spPr>
          <a:xfrm>
            <a:off x="4623907" y="3364496"/>
            <a:ext cx="19332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2D surface Flow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5EA406-C7A4-B901-DD3D-4495ACE114A0}"/>
              </a:ext>
            </a:extLst>
          </p:cNvPr>
          <p:cNvSpPr txBox="1"/>
          <p:nvPr/>
        </p:nvSpPr>
        <p:spPr>
          <a:xfrm>
            <a:off x="6805180" y="3360166"/>
            <a:ext cx="19332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Drainage Capacity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FE627D-F265-DF13-9379-821A3C52CA41}"/>
              </a:ext>
            </a:extLst>
          </p:cNvPr>
          <p:cNvSpPr txBox="1"/>
          <p:nvPr/>
        </p:nvSpPr>
        <p:spPr>
          <a:xfrm>
            <a:off x="2565242" y="4492740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Blockage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04A4BA9-C331-A766-3193-A7A8B60BDD79}"/>
              </a:ext>
            </a:extLst>
          </p:cNvPr>
          <p:cNvSpPr txBox="1"/>
          <p:nvPr/>
        </p:nvSpPr>
        <p:spPr>
          <a:xfrm>
            <a:off x="4871105" y="4480560"/>
            <a:ext cx="10401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Backflow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CA575D3-6183-BF42-A7CA-92DB08543A1D}"/>
              </a:ext>
            </a:extLst>
          </p:cNvPr>
          <p:cNvSpPr txBox="1"/>
          <p:nvPr/>
        </p:nvSpPr>
        <p:spPr>
          <a:xfrm flipH="1">
            <a:off x="6818275" y="4421569"/>
            <a:ext cx="24876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Surface-drainage                                                                                                                                                                                                                                     coupling</a:t>
            </a:r>
            <a:endParaRPr lang="en-IN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58DB6E7-8039-10D7-AB99-06B532CB5724}"/>
              </a:ext>
            </a:extLst>
          </p:cNvPr>
          <p:cNvSpPr/>
          <p:nvPr/>
        </p:nvSpPr>
        <p:spPr>
          <a:xfrm>
            <a:off x="2266969" y="2448769"/>
            <a:ext cx="6213513" cy="2465996"/>
          </a:xfrm>
          <a:prstGeom prst="roundRect">
            <a:avLst/>
          </a:prstGeom>
          <a:solidFill>
            <a:schemeClr val="tx2">
              <a:lumMod val="40000"/>
              <a:lumOff val="60000"/>
              <a:alpha val="32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FD5EB96-261E-7ECB-1394-215AAD31888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4934" y="5252928"/>
            <a:ext cx="1299161" cy="98213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4C5D3F7-81F8-54EA-CC36-FFAF34999F1B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8391" y="5238150"/>
            <a:ext cx="1517620" cy="99691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25472A9-1C85-D79A-5100-48537EEA06C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0533" y="5238150"/>
            <a:ext cx="1439613" cy="100550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4BBBE1A8-56EF-DE9B-0AF7-DED50B779FAC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6640" y="5252883"/>
            <a:ext cx="1474994" cy="9674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63B9D187-8372-35C3-019F-6370735CB3F8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7784" y="5243662"/>
            <a:ext cx="1301800" cy="96740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3C4965B5-B6C5-F6F8-9B20-EB48C942B5DF}"/>
              </a:ext>
            </a:extLst>
          </p:cNvPr>
          <p:cNvSpPr txBox="1"/>
          <p:nvPr/>
        </p:nvSpPr>
        <p:spPr>
          <a:xfrm>
            <a:off x="1712781" y="6223737"/>
            <a:ext cx="16346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Water depth</a:t>
            </a:r>
          </a:p>
          <a:p>
            <a:r>
              <a:rPr lang="en-IN" sz="1400" b="1" dirty="0"/>
              <a:t>      (cm)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4031A2C-89F4-2BD9-472C-369D88611E0F}"/>
              </a:ext>
            </a:extLst>
          </p:cNvPr>
          <p:cNvSpPr txBox="1"/>
          <p:nvPr/>
        </p:nvSpPr>
        <p:spPr>
          <a:xfrm>
            <a:off x="3276738" y="6203072"/>
            <a:ext cx="9179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Flooded   street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DBACE0E-AADB-3D94-4F9D-461504AF33FF}"/>
              </a:ext>
            </a:extLst>
          </p:cNvPr>
          <p:cNvSpPr txBox="1"/>
          <p:nvPr/>
        </p:nvSpPr>
        <p:spPr>
          <a:xfrm>
            <a:off x="4288389" y="6247950"/>
            <a:ext cx="14866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Critical Drainage            nodes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BDF544B-EEEA-20CB-AF7E-CB11EDA9D192}"/>
              </a:ext>
            </a:extLst>
          </p:cNvPr>
          <p:cNvSpPr txBox="1"/>
          <p:nvPr/>
        </p:nvSpPr>
        <p:spPr>
          <a:xfrm>
            <a:off x="6081844" y="6192580"/>
            <a:ext cx="10692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   0-3h</a:t>
            </a:r>
          </a:p>
          <a:p>
            <a:r>
              <a:rPr lang="en-IN" sz="1400" b="1" dirty="0"/>
              <a:t>Forecast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1014B53-17DB-B520-0FAF-D6E605A6ED0A}"/>
              </a:ext>
            </a:extLst>
          </p:cNvPr>
          <p:cNvSpPr txBox="1"/>
          <p:nvPr/>
        </p:nvSpPr>
        <p:spPr>
          <a:xfrm>
            <a:off x="7293474" y="6161417"/>
            <a:ext cx="1744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Flood -aware</a:t>
            </a:r>
          </a:p>
          <a:p>
            <a:r>
              <a:rPr lang="en-IN" sz="1400" b="1" dirty="0"/>
              <a:t>    Routing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FA543D1-56B0-BD23-DB17-A224B5BAC675}"/>
              </a:ext>
            </a:extLst>
          </p:cNvPr>
          <p:cNvSpPr txBox="1"/>
          <p:nvPr/>
        </p:nvSpPr>
        <p:spPr>
          <a:xfrm>
            <a:off x="9329975" y="1339626"/>
            <a:ext cx="28613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Algerian" panose="04020705040A02060702" pitchFamily="82" charset="0"/>
              </a:rPr>
              <a:t>Technology Stack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51F2935F-CE19-C8AC-5CEF-832936345D70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3592" y="2033364"/>
            <a:ext cx="709190" cy="715944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EADA72DD-B524-B260-114B-7655F9760D92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0806" y="2719283"/>
            <a:ext cx="670618" cy="777307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72A8F111-032A-A4B9-E6FD-2732D5922B57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1202" y="3530238"/>
            <a:ext cx="670618" cy="80779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E396BB6C-0FD8-9755-DE84-3ABD2497F415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3371" y="4389531"/>
            <a:ext cx="670619" cy="809116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7B207C51-28C8-713F-461C-13BA017A92A5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6119" y="5227011"/>
            <a:ext cx="586791" cy="739204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15FCF3B1-070D-A95E-1244-05EFD798E55E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1827" y="6087225"/>
            <a:ext cx="655377" cy="533446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CF8F0619-3A2D-2175-13AE-14A5F9E03776}"/>
              </a:ext>
            </a:extLst>
          </p:cNvPr>
          <p:cNvSpPr txBox="1"/>
          <p:nvPr/>
        </p:nvSpPr>
        <p:spPr>
          <a:xfrm>
            <a:off x="10195167" y="2054606"/>
            <a:ext cx="165762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Cloud</a:t>
            </a:r>
          </a:p>
          <a:p>
            <a:r>
              <a:rPr lang="en-IN" sz="1400" b="1" dirty="0"/>
              <a:t>(AWS/GCP)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4D58332-C510-0C5F-7C24-728902EA5216}"/>
              </a:ext>
            </a:extLst>
          </p:cNvPr>
          <p:cNvSpPr txBox="1"/>
          <p:nvPr/>
        </p:nvSpPr>
        <p:spPr>
          <a:xfrm>
            <a:off x="10165303" y="2800821"/>
            <a:ext cx="150132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Database</a:t>
            </a:r>
          </a:p>
          <a:p>
            <a:r>
              <a:rPr lang="en-IN" sz="1400" b="1" dirty="0"/>
              <a:t>(SQL , </a:t>
            </a:r>
            <a:r>
              <a:rPr lang="en-IN" sz="1400" b="1" dirty="0" err="1"/>
              <a:t>PostGIS</a:t>
            </a:r>
            <a:r>
              <a:rPr lang="en-IN" sz="1400" b="1" dirty="0"/>
              <a:t>)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DCFE06A-7640-1E46-F585-BEDEED841169}"/>
              </a:ext>
            </a:extLst>
          </p:cNvPr>
          <p:cNvSpPr txBox="1"/>
          <p:nvPr/>
        </p:nvSpPr>
        <p:spPr>
          <a:xfrm>
            <a:off x="10129944" y="3789499"/>
            <a:ext cx="18294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Stream processing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F631064-4BB8-9F15-6490-7263D5C7A0A0}"/>
              </a:ext>
            </a:extLst>
          </p:cNvPr>
          <p:cNvSpPr txBox="1"/>
          <p:nvPr/>
        </p:nvSpPr>
        <p:spPr>
          <a:xfrm>
            <a:off x="10171489" y="4470126"/>
            <a:ext cx="167103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AI/ML</a:t>
            </a:r>
          </a:p>
          <a:p>
            <a:r>
              <a:rPr lang="en-IN" sz="1400" b="1" dirty="0"/>
              <a:t>(Python , </a:t>
            </a:r>
            <a:r>
              <a:rPr lang="en-IN" sz="1400" b="1" dirty="0" err="1"/>
              <a:t>pytorch</a:t>
            </a:r>
            <a:r>
              <a:rPr lang="en-IN" sz="1400" b="1" dirty="0"/>
              <a:t>)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FA5618E-6B29-EE1F-330A-9462DB8F1A89}"/>
              </a:ext>
            </a:extLst>
          </p:cNvPr>
          <p:cNvSpPr txBox="1"/>
          <p:nvPr/>
        </p:nvSpPr>
        <p:spPr>
          <a:xfrm>
            <a:off x="10130571" y="5197336"/>
            <a:ext cx="180081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GIS &amp; Mapping</a:t>
            </a:r>
          </a:p>
          <a:p>
            <a:r>
              <a:rPr lang="en-IN" sz="1400" b="1" dirty="0"/>
              <a:t>(Leaflet / </a:t>
            </a:r>
            <a:r>
              <a:rPr lang="en-IN" sz="1400" b="1" dirty="0" err="1"/>
              <a:t>GeoServer</a:t>
            </a:r>
            <a:r>
              <a:rPr lang="en-IN" sz="1400" b="1" dirty="0"/>
              <a:t>)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F3A76DE-8485-BB4F-D1C2-1A25F5D7165E}"/>
              </a:ext>
            </a:extLst>
          </p:cNvPr>
          <p:cNvSpPr txBox="1"/>
          <p:nvPr/>
        </p:nvSpPr>
        <p:spPr>
          <a:xfrm>
            <a:off x="10101820" y="6170769"/>
            <a:ext cx="14104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Visualization</a:t>
            </a:r>
          </a:p>
        </p:txBody>
      </p:sp>
      <p:cxnSp>
        <p:nvCxnSpPr>
          <p:cNvPr id="78" name="Connector: Elbow 77">
            <a:extLst>
              <a:ext uri="{FF2B5EF4-FFF2-40B4-BE49-F238E27FC236}">
                <a16:creationId xmlns:a16="http://schemas.microsoft.com/office/drawing/2014/main" id="{3E2E55F0-6315-5E56-5716-EBE0C1A2FEE2}"/>
              </a:ext>
            </a:extLst>
          </p:cNvPr>
          <p:cNvCxnSpPr>
            <a:cxnSpLocks/>
          </p:cNvCxnSpPr>
          <p:nvPr/>
        </p:nvCxnSpPr>
        <p:spPr>
          <a:xfrm rot="16200000" flipH="1">
            <a:off x="2537279" y="2149295"/>
            <a:ext cx="367996" cy="365639"/>
          </a:xfrm>
          <a:prstGeom prst="bentConnector3">
            <a:avLst>
              <a:gd name="adj1" fmla="val 39313"/>
            </a:avLst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nector: Elbow 87">
            <a:extLst>
              <a:ext uri="{FF2B5EF4-FFF2-40B4-BE49-F238E27FC236}">
                <a16:creationId xmlns:a16="http://schemas.microsoft.com/office/drawing/2014/main" id="{AE9E12BC-B2EE-88EE-291D-80A909CCE537}"/>
              </a:ext>
            </a:extLst>
          </p:cNvPr>
          <p:cNvCxnSpPr>
            <a:cxnSpLocks/>
          </p:cNvCxnSpPr>
          <p:nvPr/>
        </p:nvCxnSpPr>
        <p:spPr>
          <a:xfrm rot="16200000" flipH="1">
            <a:off x="3617414" y="2213152"/>
            <a:ext cx="339477" cy="285915"/>
          </a:xfrm>
          <a:prstGeom prst="bentConnector3">
            <a:avLst>
              <a:gd name="adj1" fmla="val 29726"/>
            </a:avLst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F505D50E-E4BD-B4BE-6C1D-954D21ED7A2B}"/>
              </a:ext>
            </a:extLst>
          </p:cNvPr>
          <p:cNvCxnSpPr>
            <a:cxnSpLocks/>
          </p:cNvCxnSpPr>
          <p:nvPr/>
        </p:nvCxnSpPr>
        <p:spPr>
          <a:xfrm>
            <a:off x="5031712" y="2206670"/>
            <a:ext cx="0" cy="309443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nnector: Elbow 94">
            <a:extLst>
              <a:ext uri="{FF2B5EF4-FFF2-40B4-BE49-F238E27FC236}">
                <a16:creationId xmlns:a16="http://schemas.microsoft.com/office/drawing/2014/main" id="{ECCE3303-A660-7C92-7D6B-EDBB89F14401}"/>
              </a:ext>
            </a:extLst>
          </p:cNvPr>
          <p:cNvCxnSpPr>
            <a:cxnSpLocks/>
          </p:cNvCxnSpPr>
          <p:nvPr/>
        </p:nvCxnSpPr>
        <p:spPr>
          <a:xfrm rot="5400000">
            <a:off x="5910477" y="2208952"/>
            <a:ext cx="385369" cy="309144"/>
          </a:xfrm>
          <a:prstGeom prst="bentConnector3">
            <a:avLst>
              <a:gd name="adj1" fmla="val 29140"/>
            </a:avLst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: Elbow 109">
            <a:extLst>
              <a:ext uri="{FF2B5EF4-FFF2-40B4-BE49-F238E27FC236}">
                <a16:creationId xmlns:a16="http://schemas.microsoft.com/office/drawing/2014/main" id="{D8C8388D-3706-D06C-A396-D3E0D63B19BF}"/>
              </a:ext>
            </a:extLst>
          </p:cNvPr>
          <p:cNvCxnSpPr>
            <a:cxnSpLocks/>
          </p:cNvCxnSpPr>
          <p:nvPr/>
        </p:nvCxnSpPr>
        <p:spPr>
          <a:xfrm rot="5400000">
            <a:off x="7157907" y="2227382"/>
            <a:ext cx="364798" cy="292860"/>
          </a:xfrm>
          <a:prstGeom prst="bentConnector3">
            <a:avLst>
              <a:gd name="adj1" fmla="val 22455"/>
            </a:avLst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318994FC-8923-4B05-ED97-2DB843696014}"/>
              </a:ext>
            </a:extLst>
          </p:cNvPr>
          <p:cNvCxnSpPr>
            <a:cxnSpLocks/>
          </p:cNvCxnSpPr>
          <p:nvPr/>
        </p:nvCxnSpPr>
        <p:spPr>
          <a:xfrm>
            <a:off x="3484372" y="2980994"/>
            <a:ext cx="1290493" cy="0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BB736CBC-602D-2173-1484-05F10A548A1B}"/>
              </a:ext>
            </a:extLst>
          </p:cNvPr>
          <p:cNvCxnSpPr>
            <a:cxnSpLocks/>
          </p:cNvCxnSpPr>
          <p:nvPr/>
        </p:nvCxnSpPr>
        <p:spPr>
          <a:xfrm>
            <a:off x="5859904" y="2980994"/>
            <a:ext cx="1119368" cy="0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A94B42CE-DE3D-8A7F-492A-712B7FB62D09}"/>
              </a:ext>
            </a:extLst>
          </p:cNvPr>
          <p:cNvCxnSpPr>
            <a:cxnSpLocks/>
          </p:cNvCxnSpPr>
          <p:nvPr/>
        </p:nvCxnSpPr>
        <p:spPr>
          <a:xfrm>
            <a:off x="5859904" y="4106265"/>
            <a:ext cx="1164185" cy="21788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A99B94CF-F695-D5DA-ABCE-DDEAFC588F8D}"/>
              </a:ext>
            </a:extLst>
          </p:cNvPr>
          <p:cNvCxnSpPr>
            <a:cxnSpLocks/>
          </p:cNvCxnSpPr>
          <p:nvPr/>
        </p:nvCxnSpPr>
        <p:spPr>
          <a:xfrm flipH="1">
            <a:off x="3479642" y="4106265"/>
            <a:ext cx="1222987" cy="0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C03AC1AD-811F-5EE4-4E64-3B4C8AD3ECD6}"/>
              </a:ext>
            </a:extLst>
          </p:cNvPr>
          <p:cNvCxnSpPr>
            <a:cxnSpLocks/>
          </p:cNvCxnSpPr>
          <p:nvPr/>
        </p:nvCxnSpPr>
        <p:spPr>
          <a:xfrm flipH="1" flipV="1">
            <a:off x="5948589" y="3569320"/>
            <a:ext cx="893878" cy="351372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B7C290E8-22D0-A524-D401-34A040AB7EB7}"/>
              </a:ext>
            </a:extLst>
          </p:cNvPr>
          <p:cNvCxnSpPr>
            <a:cxnSpLocks/>
          </p:cNvCxnSpPr>
          <p:nvPr/>
        </p:nvCxnSpPr>
        <p:spPr>
          <a:xfrm>
            <a:off x="7486736" y="3573857"/>
            <a:ext cx="0" cy="240829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F7CB160F-9B82-0554-876B-C8CFD7353046}"/>
              </a:ext>
            </a:extLst>
          </p:cNvPr>
          <p:cNvCxnSpPr>
            <a:cxnSpLocks/>
          </p:cNvCxnSpPr>
          <p:nvPr/>
        </p:nvCxnSpPr>
        <p:spPr>
          <a:xfrm flipH="1">
            <a:off x="3644193" y="3558906"/>
            <a:ext cx="999493" cy="374314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2BD1D45F-D8F3-F148-B65E-88E7953C38FB}"/>
              </a:ext>
            </a:extLst>
          </p:cNvPr>
          <p:cNvCxnSpPr>
            <a:cxnSpLocks/>
          </p:cNvCxnSpPr>
          <p:nvPr/>
        </p:nvCxnSpPr>
        <p:spPr>
          <a:xfrm>
            <a:off x="3624414" y="3569320"/>
            <a:ext cx="999492" cy="374314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: Elbow 155">
            <a:extLst>
              <a:ext uri="{FF2B5EF4-FFF2-40B4-BE49-F238E27FC236}">
                <a16:creationId xmlns:a16="http://schemas.microsoft.com/office/drawing/2014/main" id="{BA35F2F4-0168-A29D-29C9-933B4ADB58CE}"/>
              </a:ext>
            </a:extLst>
          </p:cNvPr>
          <p:cNvCxnSpPr>
            <a:cxnSpLocks/>
          </p:cNvCxnSpPr>
          <p:nvPr/>
        </p:nvCxnSpPr>
        <p:spPr>
          <a:xfrm rot="5400000">
            <a:off x="3409943" y="5316829"/>
            <a:ext cx="315405" cy="12700"/>
          </a:xfrm>
          <a:prstGeom prst="bentConnector3">
            <a:avLst>
              <a:gd name="adj1" fmla="val -7345"/>
            </a:avLst>
          </a:prstGeom>
          <a:ln w="635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5" name="Connector: Elbow 164">
            <a:extLst>
              <a:ext uri="{FF2B5EF4-FFF2-40B4-BE49-F238E27FC236}">
                <a16:creationId xmlns:a16="http://schemas.microsoft.com/office/drawing/2014/main" id="{22706203-3E0E-5501-B8DE-5B53AC1E4F89}"/>
              </a:ext>
            </a:extLst>
          </p:cNvPr>
          <p:cNvCxnSpPr>
            <a:cxnSpLocks/>
          </p:cNvCxnSpPr>
          <p:nvPr/>
        </p:nvCxnSpPr>
        <p:spPr>
          <a:xfrm rot="5400000">
            <a:off x="3133504" y="4057844"/>
            <a:ext cx="305753" cy="2258511"/>
          </a:xfrm>
          <a:prstGeom prst="bentConnector4">
            <a:avLst>
              <a:gd name="adj1" fmla="val 28756"/>
              <a:gd name="adj2" fmla="val 98940"/>
            </a:avLst>
          </a:prstGeom>
          <a:ln w="635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7" name="Connector: Elbow 166">
            <a:extLst>
              <a:ext uri="{FF2B5EF4-FFF2-40B4-BE49-F238E27FC236}">
                <a16:creationId xmlns:a16="http://schemas.microsoft.com/office/drawing/2014/main" id="{FF78F3AB-3F21-0923-4D5C-4A8F6E8E48C1}"/>
              </a:ext>
            </a:extLst>
          </p:cNvPr>
          <p:cNvCxnSpPr>
            <a:cxnSpLocks/>
          </p:cNvCxnSpPr>
          <p:nvPr/>
        </p:nvCxnSpPr>
        <p:spPr>
          <a:xfrm rot="5400000">
            <a:off x="7630391" y="5272681"/>
            <a:ext cx="264116" cy="17427"/>
          </a:xfrm>
          <a:prstGeom prst="bentConnector3">
            <a:avLst>
              <a:gd name="adj1" fmla="val 50000"/>
            </a:avLst>
          </a:prstGeom>
          <a:ln w="635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F818CC29-DABA-A877-15AC-9B25523E6578}"/>
              </a:ext>
            </a:extLst>
          </p:cNvPr>
          <p:cNvCxnSpPr>
            <a:cxnSpLocks/>
          </p:cNvCxnSpPr>
          <p:nvPr/>
        </p:nvCxnSpPr>
        <p:spPr>
          <a:xfrm>
            <a:off x="5710146" y="5128032"/>
            <a:ext cx="2078034" cy="10468"/>
          </a:xfrm>
          <a:prstGeom prst="line">
            <a:avLst/>
          </a:prstGeom>
          <a:ln w="508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35E92E8B-CD44-D870-12C6-5606A778801D}"/>
              </a:ext>
            </a:extLst>
          </p:cNvPr>
          <p:cNvCxnSpPr>
            <a:cxnSpLocks/>
          </p:cNvCxnSpPr>
          <p:nvPr/>
        </p:nvCxnSpPr>
        <p:spPr>
          <a:xfrm flipV="1">
            <a:off x="5710146" y="5024933"/>
            <a:ext cx="0" cy="124403"/>
          </a:xfrm>
          <a:prstGeom prst="line">
            <a:avLst/>
          </a:prstGeom>
          <a:ln w="635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4" name="Arrow: Down 193">
            <a:extLst>
              <a:ext uri="{FF2B5EF4-FFF2-40B4-BE49-F238E27FC236}">
                <a16:creationId xmlns:a16="http://schemas.microsoft.com/office/drawing/2014/main" id="{CCE0D0BB-DA61-7A9C-60E6-FA52C0D4783A}"/>
              </a:ext>
            </a:extLst>
          </p:cNvPr>
          <p:cNvSpPr/>
          <p:nvPr/>
        </p:nvSpPr>
        <p:spPr>
          <a:xfrm>
            <a:off x="6389599" y="5149408"/>
            <a:ext cx="164058" cy="155206"/>
          </a:xfrm>
          <a:prstGeom prst="downArrow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5" name="Arrow: Right 194">
            <a:extLst>
              <a:ext uri="{FF2B5EF4-FFF2-40B4-BE49-F238E27FC236}">
                <a16:creationId xmlns:a16="http://schemas.microsoft.com/office/drawing/2014/main" id="{46AE0963-3EC2-63FF-13CF-E24113F0150C}"/>
              </a:ext>
            </a:extLst>
          </p:cNvPr>
          <p:cNvSpPr/>
          <p:nvPr/>
        </p:nvSpPr>
        <p:spPr>
          <a:xfrm rot="5400000">
            <a:off x="4850334" y="5095534"/>
            <a:ext cx="305753" cy="208909"/>
          </a:xfrm>
          <a:prstGeom prst="rightArrow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12" name="Straight Connector 211">
            <a:extLst>
              <a:ext uri="{FF2B5EF4-FFF2-40B4-BE49-F238E27FC236}">
                <a16:creationId xmlns:a16="http://schemas.microsoft.com/office/drawing/2014/main" id="{761C7718-FEFA-AF8D-F21F-CC206024CE78}"/>
              </a:ext>
            </a:extLst>
          </p:cNvPr>
          <p:cNvCxnSpPr/>
          <p:nvPr/>
        </p:nvCxnSpPr>
        <p:spPr>
          <a:xfrm flipV="1">
            <a:off x="9606116" y="1241400"/>
            <a:ext cx="202564" cy="174020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Arc 212">
            <a:extLst>
              <a:ext uri="{FF2B5EF4-FFF2-40B4-BE49-F238E27FC236}">
                <a16:creationId xmlns:a16="http://schemas.microsoft.com/office/drawing/2014/main" id="{4DE47C5F-28F3-9799-8F0E-15CE3B23ED41}"/>
              </a:ext>
            </a:extLst>
          </p:cNvPr>
          <p:cNvSpPr/>
          <p:nvPr/>
        </p:nvSpPr>
        <p:spPr>
          <a:xfrm>
            <a:off x="11795976" y="1539681"/>
            <a:ext cx="270815" cy="514925"/>
          </a:xfrm>
          <a:custGeom>
            <a:avLst/>
            <a:gdLst>
              <a:gd name="csX0" fmla="*/ 135407 w 270815"/>
              <a:gd name="csY0" fmla="*/ 0 h 514925"/>
              <a:gd name="csX1" fmla="*/ 255251 w 270815"/>
              <a:gd name="csY1" fmla="*/ 137619 h 514925"/>
              <a:gd name="csX2" fmla="*/ 270815 w 270815"/>
              <a:gd name="csY2" fmla="*/ 257463 h 5149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70815" h="514925" stroke="0" extrusionOk="0">
                <a:moveTo>
                  <a:pt x="135407" y="0"/>
                </a:moveTo>
                <a:cubicBezTo>
                  <a:pt x="180173" y="-3407"/>
                  <a:pt x="224678" y="55680"/>
                  <a:pt x="255251" y="137619"/>
                </a:cubicBezTo>
                <a:cubicBezTo>
                  <a:pt x="268149" y="175139"/>
                  <a:pt x="266808" y="215833"/>
                  <a:pt x="270815" y="257463"/>
                </a:cubicBezTo>
                <a:cubicBezTo>
                  <a:pt x="237502" y="268097"/>
                  <a:pt x="175511" y="247952"/>
                  <a:pt x="135408" y="257463"/>
                </a:cubicBezTo>
                <a:cubicBezTo>
                  <a:pt x="122678" y="164677"/>
                  <a:pt x="136676" y="86427"/>
                  <a:pt x="135407" y="0"/>
                </a:cubicBezTo>
                <a:close/>
              </a:path>
              <a:path w="270815" h="514925" fill="none" extrusionOk="0">
                <a:moveTo>
                  <a:pt x="135407" y="0"/>
                </a:moveTo>
                <a:cubicBezTo>
                  <a:pt x="185092" y="-5757"/>
                  <a:pt x="224238" y="63560"/>
                  <a:pt x="255251" y="137619"/>
                </a:cubicBezTo>
                <a:cubicBezTo>
                  <a:pt x="269951" y="177082"/>
                  <a:pt x="276505" y="217074"/>
                  <a:pt x="270815" y="257463"/>
                </a:cubicBezTo>
              </a:path>
              <a:path w="270815" h="514925" fill="none" stroke="0" extrusionOk="0">
                <a:moveTo>
                  <a:pt x="135407" y="0"/>
                </a:moveTo>
                <a:cubicBezTo>
                  <a:pt x="198672" y="1539"/>
                  <a:pt x="233554" y="49471"/>
                  <a:pt x="255251" y="137619"/>
                </a:cubicBezTo>
                <a:cubicBezTo>
                  <a:pt x="259444" y="173653"/>
                  <a:pt x="269751" y="216708"/>
                  <a:pt x="270815" y="257463"/>
                </a:cubicBezTo>
              </a:path>
            </a:pathLst>
          </a:custGeom>
          <a:ln w="50800">
            <a:solidFill>
              <a:schemeClr val="accent2">
                <a:lumMod val="50000"/>
                <a:alpha val="96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arc">
                    <a:avLst>
                      <a:gd name="adj1" fmla="val 16199996"/>
                      <a:gd name="adj2" fmla="val 0"/>
                    </a:avLst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15" name="Straight Connector 214">
            <a:extLst>
              <a:ext uri="{FF2B5EF4-FFF2-40B4-BE49-F238E27FC236}">
                <a16:creationId xmlns:a16="http://schemas.microsoft.com/office/drawing/2014/main" id="{1B28D28A-B72E-DEFC-7007-599B03506823}"/>
              </a:ext>
            </a:extLst>
          </p:cNvPr>
          <p:cNvCxnSpPr/>
          <p:nvPr/>
        </p:nvCxnSpPr>
        <p:spPr>
          <a:xfrm>
            <a:off x="12064180" y="1888198"/>
            <a:ext cx="0" cy="4593695"/>
          </a:xfrm>
          <a:prstGeom prst="line">
            <a:avLst/>
          </a:prstGeom>
          <a:ln w="50800">
            <a:solidFill>
              <a:schemeClr val="accent2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6" name="Arc 215">
            <a:extLst>
              <a:ext uri="{FF2B5EF4-FFF2-40B4-BE49-F238E27FC236}">
                <a16:creationId xmlns:a16="http://schemas.microsoft.com/office/drawing/2014/main" id="{7DCE9DAE-D6C5-DA68-30B0-AA0A5E75F40D}"/>
              </a:ext>
            </a:extLst>
          </p:cNvPr>
          <p:cNvSpPr/>
          <p:nvPr/>
        </p:nvSpPr>
        <p:spPr>
          <a:xfrm flipV="1">
            <a:off x="11512255" y="6309268"/>
            <a:ext cx="566879" cy="400110"/>
          </a:xfrm>
          <a:prstGeom prst="arc">
            <a:avLst/>
          </a:prstGeom>
          <a:ln w="508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8" name="Arc 217">
            <a:extLst>
              <a:ext uri="{FF2B5EF4-FFF2-40B4-BE49-F238E27FC236}">
                <a16:creationId xmlns:a16="http://schemas.microsoft.com/office/drawing/2014/main" id="{5FB974C6-1C0E-A5D0-31AB-F811A1D41BA9}"/>
              </a:ext>
            </a:extLst>
          </p:cNvPr>
          <p:cNvSpPr/>
          <p:nvPr/>
        </p:nvSpPr>
        <p:spPr>
          <a:xfrm flipH="1">
            <a:off x="9209379" y="1533776"/>
            <a:ext cx="328425" cy="514925"/>
          </a:xfrm>
          <a:custGeom>
            <a:avLst/>
            <a:gdLst>
              <a:gd name="csX0" fmla="*/ 164212 w 328425"/>
              <a:gd name="csY0" fmla="*/ 0 h 514925"/>
              <a:gd name="csX1" fmla="*/ 309600 w 328425"/>
              <a:gd name="csY1" fmla="*/ 137766 h 514925"/>
              <a:gd name="csX2" fmla="*/ 327162 w 328425"/>
              <a:gd name="csY2" fmla="*/ 289347 h 5149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28425" h="514925" stroke="0" extrusionOk="0">
                <a:moveTo>
                  <a:pt x="164212" y="0"/>
                </a:moveTo>
                <a:cubicBezTo>
                  <a:pt x="218672" y="-4049"/>
                  <a:pt x="270317" y="57152"/>
                  <a:pt x="309600" y="137766"/>
                </a:cubicBezTo>
                <a:cubicBezTo>
                  <a:pt x="329013" y="185104"/>
                  <a:pt x="323257" y="237450"/>
                  <a:pt x="327162" y="289347"/>
                </a:cubicBezTo>
                <a:cubicBezTo>
                  <a:pt x="310631" y="279610"/>
                  <a:pt x="235157" y="283078"/>
                  <a:pt x="164213" y="257463"/>
                </a:cubicBezTo>
                <a:cubicBezTo>
                  <a:pt x="151483" y="164677"/>
                  <a:pt x="165481" y="86427"/>
                  <a:pt x="164212" y="0"/>
                </a:cubicBezTo>
                <a:close/>
              </a:path>
              <a:path w="328425" h="514925" fill="none" extrusionOk="0">
                <a:moveTo>
                  <a:pt x="164212" y="0"/>
                </a:moveTo>
                <a:cubicBezTo>
                  <a:pt x="224679" y="-5317"/>
                  <a:pt x="274433" y="62502"/>
                  <a:pt x="309600" y="137766"/>
                </a:cubicBezTo>
                <a:cubicBezTo>
                  <a:pt x="330207" y="187109"/>
                  <a:pt x="340284" y="239351"/>
                  <a:pt x="327162" y="289347"/>
                </a:cubicBezTo>
              </a:path>
              <a:path w="328425" h="514925" fill="none" stroke="0" extrusionOk="0">
                <a:moveTo>
                  <a:pt x="164212" y="0"/>
                </a:moveTo>
                <a:cubicBezTo>
                  <a:pt x="227727" y="295"/>
                  <a:pt x="286251" y="42722"/>
                  <a:pt x="309600" y="137766"/>
                </a:cubicBezTo>
                <a:cubicBezTo>
                  <a:pt x="324117" y="184134"/>
                  <a:pt x="324563" y="243549"/>
                  <a:pt x="327162" y="289347"/>
                </a:cubicBezTo>
              </a:path>
            </a:pathLst>
          </a:custGeom>
          <a:ln w="50800">
            <a:solidFill>
              <a:schemeClr val="accent2">
                <a:lumMod val="50000"/>
                <a:alpha val="96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arc">
                    <a:avLst>
                      <a:gd name="adj1" fmla="val 16199996"/>
                      <a:gd name="adj2" fmla="val 664270"/>
                    </a:avLst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19" name="Straight Connector 218">
            <a:extLst>
              <a:ext uri="{FF2B5EF4-FFF2-40B4-BE49-F238E27FC236}">
                <a16:creationId xmlns:a16="http://schemas.microsoft.com/office/drawing/2014/main" id="{3A90F2CD-767A-E90B-32E5-DBF5AEBE816C}"/>
              </a:ext>
            </a:extLst>
          </p:cNvPr>
          <p:cNvCxnSpPr/>
          <p:nvPr/>
        </p:nvCxnSpPr>
        <p:spPr>
          <a:xfrm>
            <a:off x="9217741" y="1904766"/>
            <a:ext cx="0" cy="4593695"/>
          </a:xfrm>
          <a:prstGeom prst="line">
            <a:avLst/>
          </a:prstGeom>
          <a:ln w="50800">
            <a:solidFill>
              <a:schemeClr val="accent2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1" name="Arc 220">
            <a:extLst>
              <a:ext uri="{FF2B5EF4-FFF2-40B4-BE49-F238E27FC236}">
                <a16:creationId xmlns:a16="http://schemas.microsoft.com/office/drawing/2014/main" id="{CFBD7855-E2C3-D0F4-66CA-CBF70FE31F8D}"/>
              </a:ext>
            </a:extLst>
          </p:cNvPr>
          <p:cNvSpPr/>
          <p:nvPr/>
        </p:nvSpPr>
        <p:spPr>
          <a:xfrm flipH="1" flipV="1">
            <a:off x="9214217" y="6263643"/>
            <a:ext cx="513970" cy="430343"/>
          </a:xfrm>
          <a:prstGeom prst="arc">
            <a:avLst/>
          </a:prstGeom>
          <a:ln w="508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23" name="Straight Connector 222">
            <a:extLst>
              <a:ext uri="{FF2B5EF4-FFF2-40B4-BE49-F238E27FC236}">
                <a16:creationId xmlns:a16="http://schemas.microsoft.com/office/drawing/2014/main" id="{1D44256A-21BB-D74A-2F22-5EC78C5F336A}"/>
              </a:ext>
            </a:extLst>
          </p:cNvPr>
          <p:cNvCxnSpPr>
            <a:cxnSpLocks/>
            <a:endCxn id="216" idx="0"/>
          </p:cNvCxnSpPr>
          <p:nvPr/>
        </p:nvCxnSpPr>
        <p:spPr>
          <a:xfrm flipV="1">
            <a:off x="9586452" y="6709378"/>
            <a:ext cx="2209242" cy="6422"/>
          </a:xfrm>
          <a:prstGeom prst="line">
            <a:avLst/>
          </a:prstGeom>
          <a:ln w="50800">
            <a:solidFill>
              <a:schemeClr val="accent2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7" name="Rectangle: Rounded Corners 226">
            <a:extLst>
              <a:ext uri="{FF2B5EF4-FFF2-40B4-BE49-F238E27FC236}">
                <a16:creationId xmlns:a16="http://schemas.microsoft.com/office/drawing/2014/main" id="{EED86B55-FA0E-5899-5779-0C1F720DB592}"/>
              </a:ext>
            </a:extLst>
          </p:cNvPr>
          <p:cNvSpPr/>
          <p:nvPr/>
        </p:nvSpPr>
        <p:spPr>
          <a:xfrm>
            <a:off x="330767" y="846617"/>
            <a:ext cx="1210540" cy="1139228"/>
          </a:xfrm>
          <a:prstGeom prst="roundRect">
            <a:avLst/>
          </a:prstGeom>
          <a:solidFill>
            <a:schemeClr val="accent1">
              <a:alpha val="14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9" name="Rectangle: Rounded Corners 228">
            <a:extLst>
              <a:ext uri="{FF2B5EF4-FFF2-40B4-BE49-F238E27FC236}">
                <a16:creationId xmlns:a16="http://schemas.microsoft.com/office/drawing/2014/main" id="{FC821C9F-D3A8-2948-A5DB-0F037392540D}"/>
              </a:ext>
            </a:extLst>
          </p:cNvPr>
          <p:cNvSpPr/>
          <p:nvPr/>
        </p:nvSpPr>
        <p:spPr>
          <a:xfrm>
            <a:off x="336998" y="5421269"/>
            <a:ext cx="1253555" cy="1139228"/>
          </a:xfrm>
          <a:prstGeom prst="roundRect">
            <a:avLst/>
          </a:prstGeom>
          <a:solidFill>
            <a:schemeClr val="accent1">
              <a:alpha val="2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98412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483</TotalTime>
  <Words>144</Words>
  <Application>Microsoft Office PowerPoint</Application>
  <PresentationFormat>Widescreen</PresentationFormat>
  <Paragraphs>60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1" baseType="lpstr">
      <vt:lpstr>Algerian</vt:lpstr>
      <vt:lpstr>Arial</vt:lpstr>
      <vt:lpstr>Arial Black</vt:lpstr>
      <vt:lpstr>Calibri</vt:lpstr>
      <vt:lpstr>Calibri Light</vt:lpstr>
      <vt:lpstr>Calisto MT</vt:lpstr>
      <vt:lpstr>Times New Roman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15</cp:revision>
  <dcterms:created xsi:type="dcterms:W3CDTF">2026-09-01T11:44:59Z</dcterms:created>
  <dcterms:modified xsi:type="dcterms:W3CDTF">2026-09-03T13:19:50Z</dcterms:modified>
</cp:coreProperties>
</file>