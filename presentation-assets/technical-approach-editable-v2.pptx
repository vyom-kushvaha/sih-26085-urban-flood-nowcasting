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ddea7bcd8642cb" /><Relationship Type="http://schemas.openxmlformats.org/officeDocument/2006/relationships/extended-properties" Target="/docProps/app.xml" Id="R0ff6da7390144390" /><Relationship Type="http://schemas.openxmlformats.org/officeDocument/2006/relationships/officeDocument" Target="/ppt/presentation.xml" Id="R250dbef37bf848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f97042519d4a38"/>
  </p:sldMasterIdLst>
  <p:notesMasterIdLst>
    <p:notesMasterId xmlns:r="http://schemas.openxmlformats.org/officeDocument/2006/relationships" r:id="R422403cbaed640be"/>
  </p:notesMasterIdLst>
  <p:sldIdLst>
    <p:sldId xmlns:r="http://schemas.openxmlformats.org/officeDocument/2006/relationships" id="256" r:id="Rc405ea5164d147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1fe5e4c67649fd" /><Relationship Type="http://schemas.openxmlformats.org/officeDocument/2006/relationships/slideMaster" Target="/ppt/slideMasters/slideMaster1.xml" Id="R27f97042519d4a38" /><Relationship Type="http://schemas.openxmlformats.org/officeDocument/2006/relationships/notesMaster" Target="/ppt/notesMasters/notesMaster1.xml" Id="R422403cbaed640be" /><Relationship Type="http://schemas.openxmlformats.org/officeDocument/2006/relationships/presProps" Target="/ppt/presProps.xml" Id="Rc1b300ed2a6f4848" /><Relationship Type="http://schemas.openxmlformats.org/officeDocument/2006/relationships/tableStyles" Target="/ppt/tableStyles.xml" Id="R03eec7488de24b41" /><Relationship Type="http://schemas.openxmlformats.org/officeDocument/2006/relationships/slide" Target="/ppt/slides/slide1.xml" Id="Rc405ea5164d147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fa5128abd442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003e797fe241e8" /><Relationship Type="http://schemas.openxmlformats.org/officeDocument/2006/relationships/notesMaster" Target="/ppt/notesMasters/notesMaster1.xml" Id="R9b73b0e29ac046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architecture for SIH26085. All slide text, cards, arrows and diagram elements are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ff9f63a7041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a5d05df0c44eea" /><Relationship Type="http://schemas.openxmlformats.org/officeDocument/2006/relationships/slideLayout" Target="/ppt/slideLayouts/slideLayout1.xml" Id="Rf89bc69a98d34c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9bc69a98d34c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2dfc2a2084869" /><Relationship Type="http://schemas.openxmlformats.org/officeDocument/2006/relationships/notesSlide" Target="/ppt/notesSlides/notesSlide1.xml" Id="Rc100a519bd7141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5767F1C-5F25-40FC-BBA4-9564E63F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667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F36EA-1A49-40A7-9C9A-7EF8B4FE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8150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Rainfall–Terrain–Drainage Coupling for Street-Level Flood Nowcasting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D1EB6-E6F4-460A-AD7B-72C7F687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6200"/>
            <a:ext cx="952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2A6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6B1C0-1308-4F51-87EE-3301B65E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52400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56596-07C5-4B19-BF13-2AF5BC76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61925"/>
            <a:ext cx="409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45CB0-BBC1-4527-9B81-E518541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52400"/>
            <a:ext cx="20002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DB468-C108-44A9-8BAF-663DEFA2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952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5591E-6A22-43FD-9261-30DCE6C3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38200"/>
            <a:ext cx="91059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46134-5C85-4214-96DA-3BF55866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847725"/>
            <a:ext cx="31051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9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58AC9-5FA4-478B-B985-BE832879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667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MULTI-SOURCE INPUT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A2783-FE62-4D13-8A1E-0D20964B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24150"/>
            <a:ext cx="91059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2C19A-2847-4544-BB8A-A0053704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2733675"/>
            <a:ext cx="34480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9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71651-B929-41BD-8D77-B51B89FA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52725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COUPLED FLOOD MODELLING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6A50C-BB04-4722-9377-20CA8111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105400"/>
            <a:ext cx="91059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99E01-2824-499D-8C97-C6D6BB15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5114925"/>
            <a:ext cx="2571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9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664FF-7C4D-4D22-93DE-7AAD16B9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1339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ACTIONABLE OUTPUTS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F88EE-C397-4272-AAE5-EA49F923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38200"/>
            <a:ext cx="2590800" cy="58483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5C40E-BBD5-4D48-840F-458BE46B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847725"/>
            <a:ext cx="25717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9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6EF13-3CA7-41BE-A836-D41F8550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667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92D0D-2AAD-486A-A2E5-C98DC0B9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B8D84-2498-40CC-AC40-9776FC30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96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32E3D4-2FED-404E-8956-DF883332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Rainfall &amp; Forecast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C60FB-C182-408C-953F-5223D487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097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DWR / NWP / Weather APIs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0CC27-E030-4C73-9CFD-43AEAB6B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285875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50312-CEFA-49AD-95DB-4F4EC99B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00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159B4C-8A79-406A-B5AC-0E70FCF5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096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01FFA-78F3-4500-BF84-E837A400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DEM &amp; Terrain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14CE3-8F1B-44A5-BB6A-FA659863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0097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Elevation / Slope / Flow Paths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0873E9-BF10-4895-9B68-3B97F8ED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285875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A0A35-1B30-42ED-B54B-4836E1F9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00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94146F-8DDB-4AF8-99D3-2234825D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096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4FD686-82B5-44BB-856B-E4396E0D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Drainage Network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F18B02-5BCC-4931-8EBF-922177C6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97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Inlets / Manholes / Pipes / Capacity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B2058B-D66C-445A-964A-0AFD76A9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285875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A4A979-3114-4214-B1BE-2CEAFE0B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00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AB7473-4279-47F6-ACE8-B5F09A73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096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F9E525-E9C6-408D-B7AD-8F43E46B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Roads &amp; Land Use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BE1937-9874-499F-9E03-64F8A643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0097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OSM / Urban GIS Layers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5689F6-F9EE-4D0D-B5D8-602EC23C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285875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CE7C05-6FD0-424A-B904-DF37383C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00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41B280-81EA-4831-AC5E-607E7860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096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790403-E475-43E8-9C06-1199A02F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Citizen Observations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C77551-9DD0-421C-A273-087E8FCD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0097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Waterlogging Reports / Validation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F8AB92-B3B7-4127-AE66-184B782B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66975"/>
            <a:ext cx="7219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706C8B-5341-4A75-8062-D2059570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860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629391-4FF0-4834-9960-B691D879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623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B87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38D9D2-34DF-45C5-83BE-424D1C6F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4C623E-EB03-429F-A563-AD646603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48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D35405-EB69-4704-8342-220AADD2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43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4AC760-8A47-4395-A599-DE2F1A5D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B9C654-EB83-40E0-91D6-E41A36E6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29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Rainfall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4DD9ED-F6AD-4CA4-A223-8F36E1BE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76650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1EABD7-22C6-4F06-B6E1-7F668790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623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B87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447BF-BF22-442C-9A27-E046BA6A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D7AA46-196E-4050-AD7D-C00E04DE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48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2427FD-600F-436D-AF32-8DE2A913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43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FF2253-3736-437B-B2B7-3AC25742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5280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2C283B-CB3C-4D6F-8C1E-4D344302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29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Runoff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A6F7D6-F34C-4D8E-9AD7-32C688E6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676650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A9E618-4D2B-4FF7-BA6C-0E1518CD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B87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EDE973-ED7A-44B4-9BE9-B320F737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40F5288-9CF8-499E-90A3-7C348E70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48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13BF68C-EF04-4BA1-AC19-D0A6A73D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43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F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43C988-7AA4-4233-B618-FF74E7B0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5280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B1F5C4-FC92-41FF-AA49-090B93F2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29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2D Surface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Routing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98E7FC-0CE6-49BE-AF26-6BC82DD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76650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4DA6F6-2420-44CF-B5B6-FE209DAC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1623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B87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418061-E466-4DF8-B953-155A25E1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BF37579-6FE8-42E5-8B4B-717C9126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F46D1CE-01CB-4A79-907C-70A984E1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43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A8A900E-6E48-4A38-A07C-C6840395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5280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78317CF-2D89-4A97-9C83-BA9CD26F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829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Drainage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Hydraulics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7A727C-D961-406E-87E3-1369018D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76650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E392C64-60F7-4761-9F81-01F55E1E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B87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9F99AF1-6A1B-4C03-AF15-E7E32411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D42FBF1-F4F1-4001-A2D7-1C81AB8F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48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1D14DE4-B76A-4850-9CCD-571C003F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43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B09CF37-C109-4AC2-97E7-577DD6F0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5280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4A62F26-E070-438E-B7B1-C663484B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Surface–Drain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Coupling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360A401-8C5A-4C5D-950E-851DC88C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1619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AA7279A-38C5-4976-AB7C-EC6E69F4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62300"/>
            <a:ext cx="125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8B87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9CA8195-D771-497F-8DEA-F916DA05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E482DB3-CBDC-4AE5-9429-EE2B0A3C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48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A4406FA-E76D-40FB-B478-107751F3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432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EE3DD42-D315-4CC4-9308-28A947B2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0–3h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84BF69E-A27F-4596-A3D3-2720AB99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829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0–3 Hour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Nowcasting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F598F3A-E0E0-4B06-9174-7B57B93A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467225"/>
            <a:ext cx="8820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3FC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01F7625-D90C-4B6F-93D3-60DD0F35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847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Rainfall  →  Runoff  →  Drainage Capacity  →  Excess Water  →  Routing Depth  →  Flood Risk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23FB958-EB70-4B31-86C1-4F6315A8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475CEF-8490-4C6D-93D0-AEAF1860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38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F307B86-2C0D-48F4-B5E1-0B4F777E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cm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6155D12-ECF0-4654-980E-28E7CAF9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9912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Street Water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Depth (cm)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661EBE5-E4A3-43B5-9337-8A7E39BC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43550"/>
            <a:ext cx="952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C17548-7F69-4229-B80A-5A8FB7B2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38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5A1C2C3-99BC-4DBD-B43F-8CB4BD11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483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4A43F7A-5DA4-43E1-A1FB-C9E35FA3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9912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Flood Risk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Hotspots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C70D7A1-C3EF-4564-86D2-C625C757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543550"/>
            <a:ext cx="952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E57A39F-C399-4274-A019-7E02ACB5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38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89ABDDA-46B2-404B-BB77-63127DFD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483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NODE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B8A93C8-E402-4FCA-BB00-E776B51B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9912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Drainage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Stress Map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6E017CF-3A9B-461D-BEAB-CA386195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43550"/>
            <a:ext cx="952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89A7AC3-98BE-4F65-B98C-3B360E3E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38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83A204E-042E-4CD6-B3DB-C9AB3870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483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0–3h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B9F21E2-A459-44DC-9457-9817DF48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912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0–3 Hour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Risk Timeline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C05ECAA-2979-47E8-BC32-521111F1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43550"/>
            <a:ext cx="952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BAC11BB-7E50-4B9C-B7AB-243EC07C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38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652E33-EF82-4244-A8DD-711A5326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483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B6B50C8-9FDD-4E30-994D-FE87F037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9912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Flood-Aware</a:t>
            </a:r>
          </a:p>
          <a:p xmlns:a="http://schemas.openxmlformats.org/drawingml/2006/main">
            <a:pPr algn="ctr">
              <a:defRPr sz="97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Routing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BC62F5F-845B-4CEF-923D-C15C9C70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23975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C919350-599B-4F45-8295-A4A8EE6D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57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DFB1F0F-2678-403B-8BBC-9FB8ED69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668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9F16776-D891-48B9-969C-45B2A71C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400175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6DA0373-715C-434F-A4E4-27AE866C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6478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HTML / CSS / JavaScript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937BA82-AFDB-49F0-AD09-669CFF32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62175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9B4A47D-11AE-4B8B-8A3A-50F0B3AB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95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7D30E16-B1D7-4391-967E-54ECFFB7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050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8DB680B-49AA-45CB-9CC2-2FEB9A4C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238375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Web GIS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4CC0D19-C439-466F-B356-EE4F60F6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4860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Leaflet / GeoJSON / OSM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134A650-40F1-43D5-A149-DE8B7DED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0375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728746E-3373-4C0F-8B9B-2584501A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337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E8C47EE-52A9-4061-A182-CE9CDD1B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C2A5800-F601-48B2-B771-9B11D40F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076575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Backend APIs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2BB45BC-366B-433C-B6A5-E1881384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3242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FastAPI / Python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AB308B7-FE89-4163-A902-21C092AE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38575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57ECEA6-9859-4157-BF91-D99D6701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71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CBF2D88-30DA-4CF1-AF88-1CCFF348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48189FC-6372-4405-8DF4-BD1BFC0B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914775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Modelling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744AEBB-10FF-4948-BD98-C1BFFDD2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624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NumPy / Rasterio /</a:t>
            </a:r>
          </a:p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GeoPandas / NetworkX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56C0E13-C974-433B-8B72-E0320FE3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76775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D083297-A712-43F6-B568-7B0C9374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10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ACE2BC4-A8C1-47EE-B558-274A4C8A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196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51263C1-D107-4B70-9E33-8BFA7E45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752975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E61E1B-41F0-41FF-9C77-A9BF54A9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0006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PostgreSQL / PostGIS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AF80C6F-91E1-4167-99D8-AB3083F8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514975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8E4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64B5071-4FA7-4C08-B4E1-DD69D157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648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B03565B-5351-4152-A3AB-7D8B14A4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6578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44FF904-F8F1-4C8B-80C1-658B4598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591175"/>
            <a:ext cx="150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A63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9EDF1E1-3B40-40C0-BAA3-F633EA5B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8388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B2A6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0B2A63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</p:spTree>
    <p:extLst>
      <p:ext uri="{BB962C8B-B14F-4D97-AF65-F5344CB8AC3E}">
        <p14:creationId xmlns:p14="http://schemas.microsoft.com/office/powerpoint/2010/main" val="128312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2026-09-14T04:22:29.5680000Z</dcterms:created>
  <dcterms:modified xsi:type="dcterms:W3CDTF">2026-09-14T04:22:29.5680000Z</dcterms:modified>
</coreProperties>
</file>