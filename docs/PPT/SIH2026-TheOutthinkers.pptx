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63" r:id="rId4"/>
    <p:sldId id="260" r:id="rId5"/>
    <p:sldId id="261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391"/>
    <a:srgbClr val="2B2B00"/>
    <a:srgbClr val="A9BE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5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B9FF6-0FFA-4F5E-9F5A-8FFC046F2F8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5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6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6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6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23476-6DA7-41FF-AF33-D2596C9AF1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09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Runoff Estimation</a:t>
            </a:r>
          </a:p>
        </p:txBody>
      </p:sp>
      <p:sp>
        <p:nvSpPr>
          <p:cNvPr id="1048616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D23476-6DA7-41FF-AF33-D2596C9AF1B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952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7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3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38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39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44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5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7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4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4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5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0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0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1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5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5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2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72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2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2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2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1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98A8D-735D-49EB-8BD7-7C19969991D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AE8A9-48D2-40BB-8F23-45266457765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1.jpe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1.jpe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58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1.jpe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hyperlink" Target="https://github.com/your-org/HYDROLEN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hyperlink" Target="https://docs.google.com/document/d/19qORQzDj_TlJYGB8Bng7_z4AOPrNlrw-/edit?usp=sharing&amp;ouid=116236032653346115359&amp;rtpof=true&amp;sd=true" TargetMode="Externa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Rectangle 1"/>
          <p:cNvSpPr/>
          <p:nvPr/>
        </p:nvSpPr>
        <p:spPr>
          <a:xfrm>
            <a:off x="385106" y="333308"/>
            <a:ext cx="928610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48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SMART INDIA HACKATHON 2026</a:t>
            </a:r>
          </a:p>
        </p:txBody>
      </p:sp>
      <p:pic>
        <p:nvPicPr>
          <p:cNvPr id="2097207" name="Picture 4"/>
          <p:cNvPicPr>
            <a:picLocks noChangeAspect="1"/>
          </p:cNvPicPr>
          <p:nvPr/>
        </p:nvPicPr>
        <p:blipFill>
          <a:blip r:embed="rId2"/>
          <a:srcRect l="9280"/>
          <a:stretch>
            <a:fillRect/>
          </a:stretch>
        </p:blipFill>
        <p:spPr>
          <a:xfrm>
            <a:off x="9443195" y="0"/>
            <a:ext cx="1666169" cy="1836593"/>
          </a:xfrm>
          <a:prstGeom prst="rect">
            <a:avLst/>
          </a:prstGeom>
        </p:spPr>
      </p:pic>
      <p:sp>
        <p:nvSpPr>
          <p:cNvPr id="1048695" name="TextBox 6"/>
          <p:cNvSpPr txBox="1"/>
          <p:nvPr/>
        </p:nvSpPr>
        <p:spPr>
          <a:xfrm>
            <a:off x="10713893" y="456631"/>
            <a:ext cx="3101687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SMART INDIA             HACKATHON 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     2026</a:t>
            </a:r>
          </a:p>
        </p:txBody>
      </p:sp>
      <p:sp>
        <p:nvSpPr>
          <p:cNvPr id="1048696" name="TextBox 8"/>
          <p:cNvSpPr txBox="1"/>
          <p:nvPr/>
        </p:nvSpPr>
        <p:spPr>
          <a:xfrm>
            <a:off x="3932961" y="1186641"/>
            <a:ext cx="6909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7" name="TextBox 10"/>
          <p:cNvSpPr txBox="1"/>
          <p:nvPr/>
        </p:nvSpPr>
        <p:spPr>
          <a:xfrm>
            <a:off x="385106" y="1894315"/>
            <a:ext cx="7128165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26085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</a:t>
            </a:r>
            <a:r>
              <a:rPr lang="en-IN" sz="2400" dirty="0"/>
              <a:t>Urban Flood Nowcasting System (Drainage and Rainfall Coupling).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</a:t>
            </a:r>
            <a:r>
              <a:rPr lang="en-IN" sz="2400" dirty="0"/>
              <a:t>Disaster Management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IN" sz="24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The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OutThinkers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Mentor Name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Jay Pandya </a:t>
            </a:r>
          </a:p>
        </p:txBody>
      </p:sp>
      <p:sp>
        <p:nvSpPr>
          <p:cNvPr id="1048698" name="Hexagon 19"/>
          <p:cNvSpPr/>
          <p:nvPr/>
        </p:nvSpPr>
        <p:spPr>
          <a:xfrm>
            <a:off x="11224008" y="5667196"/>
            <a:ext cx="967991" cy="1012040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99" name="Hexagon 21"/>
          <p:cNvSpPr/>
          <p:nvPr/>
        </p:nvSpPr>
        <p:spPr>
          <a:xfrm>
            <a:off x="7958295" y="2619294"/>
            <a:ext cx="3898550" cy="3605522"/>
          </a:xfrm>
          <a:prstGeom prst="hexagon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700" name="Hexagon 23"/>
          <p:cNvSpPr/>
          <p:nvPr/>
        </p:nvSpPr>
        <p:spPr>
          <a:xfrm>
            <a:off x="7798450" y="1816436"/>
            <a:ext cx="1666169" cy="1367476"/>
          </a:xfrm>
          <a:prstGeom prst="hexagon">
            <a:avLst/>
          </a:prstGeom>
          <a:noFill/>
          <a:ln w="127000">
            <a:solidFill>
              <a:schemeClr val="accent1">
                <a:shade val="15000"/>
                <a:alpha val="12000"/>
              </a:schemeClr>
            </a:solidFill>
          </a:ln>
          <a:effectLst>
            <a:reflection stA="0" endPos="65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48701" name="Hexagon 24"/>
          <p:cNvSpPr/>
          <p:nvPr/>
        </p:nvSpPr>
        <p:spPr>
          <a:xfrm>
            <a:off x="7387938" y="3242796"/>
            <a:ext cx="781372" cy="723817"/>
          </a:xfrm>
          <a:prstGeom prst="hexagon">
            <a:avLst/>
          </a:prstGeom>
          <a:solidFill>
            <a:schemeClr val="bg2">
              <a:alpha val="71000"/>
            </a:schemeClr>
          </a:solidFill>
          <a:ln>
            <a:solidFill>
              <a:schemeClr val="accent1">
                <a:shade val="15000"/>
                <a:alpha val="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69954" y="108852"/>
            <a:ext cx="7772400" cy="57708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100" b="1">
                <a:solidFill>
                  <a:srgbClr val="10264A"/>
                </a:solidFill>
              </a:defRPr>
            </a:pPr>
            <a:r>
              <a:rPr sz="2800" dirty="0"/>
              <a:t>IDEA &amp; PROPOSED SOLUTION</a:t>
            </a:r>
          </a:p>
          <a:p>
            <a:pPr algn="ctr">
              <a:defRPr sz="950">
                <a:solidFill>
                  <a:srgbClr val="555F6E"/>
                </a:solidFill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396958" y="626359"/>
            <a:ext cx="3108960" cy="4582803"/>
          </a:xfrm>
          <a:prstGeom prst="roundRect">
            <a:avLst/>
          </a:prstGeom>
          <a:solidFill>
            <a:srgbClr val="F7FAFE"/>
          </a:solidFill>
          <a:ln w="1524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835" y="661176"/>
            <a:ext cx="2375868" cy="344266"/>
          </a:xfrm>
          <a:prstGeom prst="roundRect">
            <a:avLst/>
          </a:prstGeom>
          <a:solidFill>
            <a:srgbClr val="194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sz="1400" dirty="0"/>
              <a:t>⚠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03" y="1064444"/>
            <a:ext cx="2834640" cy="230832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>
              <a:defRPr sz="1200" b="1">
                <a:solidFill>
                  <a:srgbClr val="10264A"/>
                </a:solidFill>
              </a:defRPr>
            </a:pPr>
            <a:r>
              <a:rPr dirty="0"/>
              <a:t>RAINFALL ≠ </a:t>
            </a:r>
            <a:r>
              <a:rPr lang="en-IN" dirty="0"/>
              <a:t>STREET – LEVEL FLOODING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03433" y="2126272"/>
            <a:ext cx="1323225" cy="94813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r>
              <a:rPr sz="1050" dirty="0"/>
              <a:t>WHE</a:t>
            </a:r>
            <a:r>
              <a:rPr lang="en-IN" sz="1050" dirty="0"/>
              <a:t>RE?</a:t>
            </a: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b="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sz="1050" b="0" dirty="0">
              <a:solidFill>
                <a:srgbClr val="555F6E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34252" y="2124697"/>
            <a:ext cx="1359015" cy="9418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r>
              <a:rPr lang="en-IN" sz="1050" dirty="0"/>
              <a:t>W</a:t>
            </a:r>
            <a:r>
              <a:rPr sz="1050" dirty="0"/>
              <a:t>HEN</a:t>
            </a:r>
            <a:r>
              <a:rPr lang="en-IN" sz="1050" dirty="0"/>
              <a:t>?</a:t>
            </a: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b="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sz="1050" b="0" dirty="0">
              <a:solidFill>
                <a:srgbClr val="555F6E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3898" y="3179721"/>
            <a:ext cx="1313687" cy="103961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50" b="1">
                <a:solidFill>
                  <a:srgbClr val="194B91"/>
                </a:solidFill>
              </a:defRPr>
            </a:pPr>
            <a:r>
              <a:rPr lang="en-IN" sz="1050" dirty="0"/>
              <a:t>         </a:t>
            </a:r>
          </a:p>
          <a:p>
            <a:pPr algn="ctr">
              <a:defRPr sz="950" b="1">
                <a:solidFill>
                  <a:srgbClr val="194B91"/>
                </a:solidFill>
              </a:defRPr>
            </a:pPr>
            <a:r>
              <a:rPr lang="en-IN" sz="1050" dirty="0"/>
              <a:t>    </a:t>
            </a:r>
            <a:r>
              <a:rPr sz="1050" dirty="0"/>
              <a:t>HOW DEEP</a:t>
            </a:r>
            <a:r>
              <a:rPr lang="en-IN" sz="1050" dirty="0"/>
              <a:t>?</a:t>
            </a: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/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b="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sz="1050" b="0" dirty="0">
              <a:solidFill>
                <a:srgbClr val="555F6E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055720" y="3183501"/>
            <a:ext cx="1390428" cy="105901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50" b="1">
                <a:solidFill>
                  <a:srgbClr val="194B91"/>
                </a:solidFill>
              </a:defRPr>
            </a:pPr>
            <a:r>
              <a:rPr lang="en-IN" sz="1050" dirty="0"/>
              <a:t>   </a:t>
            </a:r>
            <a:r>
              <a:rPr sz="1050" dirty="0"/>
              <a:t>WHAT NEXT</a:t>
            </a:r>
            <a:r>
              <a:rPr lang="en-IN" sz="1050" dirty="0"/>
              <a:t>?</a:t>
            </a: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b="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b="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dirty="0">
              <a:solidFill>
                <a:srgbClr val="555F6E"/>
              </a:solidFill>
            </a:endParaRPr>
          </a:p>
          <a:p>
            <a:pPr algn="ctr">
              <a:defRPr sz="950" b="1">
                <a:solidFill>
                  <a:srgbClr val="194B91"/>
                </a:solidFill>
              </a:defRPr>
            </a:pPr>
            <a:endParaRPr lang="en-IN" sz="1050" b="0" dirty="0">
              <a:solidFill>
                <a:srgbClr val="555F6E"/>
              </a:solidFill>
            </a:endParaRPr>
          </a:p>
        </p:txBody>
      </p:sp>
      <p:sp useBgFill="1">
        <p:nvSpPr>
          <p:cNvPr id="14" name="Rounded Rectangle 13"/>
          <p:cNvSpPr/>
          <p:nvPr/>
        </p:nvSpPr>
        <p:spPr>
          <a:xfrm>
            <a:off x="3657600" y="612346"/>
            <a:ext cx="4800600" cy="3409048"/>
          </a:xfrm>
          <a:prstGeom prst="roundRect">
            <a:avLst/>
          </a:prstGeom>
          <a:ln w="1524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31367" y="667763"/>
            <a:ext cx="3816685" cy="377241"/>
          </a:xfrm>
          <a:prstGeom prst="roundRect">
            <a:avLst/>
          </a:prstGeom>
          <a:solidFill>
            <a:srgbClr val="168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sz="1400" dirty="0"/>
              <a:t>💡 OUR SOLUTION</a:t>
            </a:r>
            <a:r>
              <a:rPr lang="en-IN" sz="1400" dirty="0"/>
              <a:t> - R.A.K.S.H.A.K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3885634" y="1096235"/>
            <a:ext cx="1028700" cy="813108"/>
          </a:xfrm>
          <a:prstGeom prst="roundRect">
            <a:avLst/>
          </a:prstGeom>
          <a:solidFill>
            <a:srgbClr val="F2F7FF">
              <a:alpha val="0"/>
            </a:srgbClr>
          </a:solidFill>
          <a:ln w="10160">
            <a:solidFill>
              <a:srgbClr val="C8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36576" rtlCol="0" anchor="ctr"/>
          <a:lstStyle/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r>
              <a:rPr sz="1200" dirty="0"/>
              <a:t>Rainfall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3282" y="1104963"/>
            <a:ext cx="1028700" cy="813108"/>
          </a:xfrm>
          <a:prstGeom prst="roundRect">
            <a:avLst/>
          </a:prstGeom>
          <a:solidFill>
            <a:srgbClr val="F2F7FF">
              <a:alpha val="0"/>
            </a:srgbClr>
          </a:solidFill>
          <a:ln w="10160">
            <a:solidFill>
              <a:srgbClr val="C8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36576" rtlCol="0" anchor="ctr"/>
          <a:lstStyle/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r>
              <a:rPr sz="1200" dirty="0"/>
              <a:t>Terrain / Elevation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5332" y="1099781"/>
            <a:ext cx="1028700" cy="831397"/>
          </a:xfrm>
          <a:prstGeom prst="roundRect">
            <a:avLst/>
          </a:prstGeom>
          <a:solidFill>
            <a:srgbClr val="F2F7FF">
              <a:alpha val="0"/>
            </a:srgbClr>
          </a:solidFill>
          <a:ln w="10160">
            <a:solidFill>
              <a:srgbClr val="C8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36576" rtlCol="0" anchor="ctr"/>
          <a:lstStyle/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r>
              <a:rPr sz="1200" dirty="0"/>
              <a:t>Drainage Network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0565" y="1111349"/>
            <a:ext cx="1028700" cy="831397"/>
          </a:xfrm>
          <a:prstGeom prst="roundRect">
            <a:avLst/>
          </a:prstGeom>
          <a:solidFill>
            <a:srgbClr val="F2F7FF">
              <a:alpha val="0"/>
            </a:srgbClr>
          </a:solidFill>
          <a:ln w="10160">
            <a:solidFill>
              <a:srgbClr val="C8D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bIns="36576" rtlCol="0" anchor="ctr"/>
          <a:lstStyle/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50" b="1">
                <a:solidFill>
                  <a:srgbClr val="10264A"/>
                </a:solidFill>
              </a:defRPr>
            </a:pPr>
            <a:r>
              <a:rPr sz="1200" dirty="0"/>
              <a:t>Urban Road Network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66946" y="2126272"/>
            <a:ext cx="4776013" cy="171369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tlCol="0" anchor="ctr"/>
          <a:lstStyle/>
          <a:p>
            <a:pPr algn="ctr">
              <a:defRPr sz="1100" b="1">
                <a:solidFill>
                  <a:srgbClr val="16874B"/>
                </a:solidFill>
              </a:defRPr>
            </a:pP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8583677" y="1101946"/>
            <a:ext cx="3335352" cy="4150642"/>
          </a:xfrm>
          <a:prstGeom prst="roundRect">
            <a:avLst/>
          </a:prstGeom>
          <a:solidFill>
            <a:srgbClr val="F7FAFE"/>
          </a:solidFill>
          <a:ln w="1524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919427" y="1234439"/>
            <a:ext cx="2488257" cy="292608"/>
          </a:xfrm>
          <a:prstGeom prst="roundRect">
            <a:avLst/>
          </a:prstGeom>
          <a:solidFill>
            <a:srgbClr val="10264A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👥 USERS / APPLICATION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19" y="1637536"/>
            <a:ext cx="3036624" cy="1005840"/>
          </a:xfrm>
          <a:prstGeom prst="roundRect">
            <a:avLst/>
          </a:prstGeom>
          <a:solidFill>
            <a:srgbClr val="F2FCF6"/>
          </a:solidFill>
          <a:ln w="11430">
            <a:solidFill>
              <a:srgbClr val="BEE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00" b="1">
                <a:solidFill>
                  <a:srgbClr val="16874B"/>
                </a:solidFill>
              </a:defRPr>
            </a:pPr>
            <a:endParaRPr sz="800" b="0" dirty="0">
              <a:solidFill>
                <a:srgbClr val="555F6E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739439" y="2765184"/>
            <a:ext cx="3029704" cy="1096318"/>
          </a:xfrm>
          <a:prstGeom prst="roundRect">
            <a:avLst/>
          </a:prstGeom>
          <a:solidFill>
            <a:srgbClr val="FFF7F2"/>
          </a:solidFill>
          <a:ln w="11430">
            <a:solidFill>
              <a:srgbClr val="FAD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00" b="1">
                <a:solidFill>
                  <a:srgbClr val="DC5F19"/>
                </a:solidFill>
              </a:defRPr>
            </a:pP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8726030" y="3963924"/>
            <a:ext cx="3029704" cy="1105698"/>
          </a:xfrm>
          <a:prstGeom prst="roundRect">
            <a:avLst/>
          </a:prstGeom>
          <a:solidFill>
            <a:srgbClr val="FAF5FF"/>
          </a:solidFill>
          <a:ln w="11430">
            <a:solidFill>
              <a:srgbClr val="E6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bIns="36576" rtlCol="0" anchor="ctr"/>
          <a:lstStyle/>
          <a:p>
            <a:pPr algn="ctr">
              <a:defRPr sz="900" b="1">
                <a:solidFill>
                  <a:srgbClr val="733CA0"/>
                </a:solidFill>
              </a:defRPr>
            </a:pP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525214" y="5351636"/>
            <a:ext cx="6720840" cy="13716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1" y="5409346"/>
            <a:ext cx="203639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4B91"/>
                </a:solidFill>
              </a:defRPr>
            </a:pPr>
            <a:r>
              <a:rPr sz="1400" dirty="0"/>
              <a:t>⚙ KEY DIFFERENTIATORS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5684651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1911096" y="5709802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3217703" y="5709802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4536717" y="5709802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6" name="Rounded Rectangle 35"/>
          <p:cNvSpPr/>
          <p:nvPr/>
        </p:nvSpPr>
        <p:spPr>
          <a:xfrm>
            <a:off x="5875020" y="5709802"/>
            <a:ext cx="1252728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54864" rIns="36576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7406640" y="5351206"/>
            <a:ext cx="4462272" cy="137160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9160" y="5357688"/>
            <a:ext cx="27506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94B91"/>
                </a:solidFill>
              </a:defRPr>
            </a:pPr>
            <a:r>
              <a:rPr sz="1400" dirty="0"/>
              <a:t>⚡ FROM PREDICTION TO ACTION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66076" y="5660166"/>
            <a:ext cx="8046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dirty="0"/>
              <a:t>PREDICT</a:t>
            </a:r>
          </a:p>
          <a:p>
            <a:pPr algn="ctr">
              <a:spcBef>
                <a:spcPts val="200"/>
              </a:spcBef>
              <a:defRPr sz="650">
                <a:solidFill>
                  <a:srgbClr val="555F6E"/>
                </a:solidFill>
              </a:defRPr>
            </a:pPr>
            <a:r>
              <a:rPr sz="900" dirty="0"/>
              <a:t>Where &amp; when?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0049" y="596646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4B91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5312" y="5669280"/>
            <a:ext cx="8046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dirty="0"/>
              <a:t>EXPLAIN</a:t>
            </a:r>
          </a:p>
          <a:p>
            <a:pPr algn="ctr">
              <a:spcBef>
                <a:spcPts val="200"/>
              </a:spcBef>
              <a:defRPr sz="650">
                <a:solidFill>
                  <a:srgbClr val="555F6E"/>
                </a:solidFill>
              </a:defRPr>
            </a:pPr>
            <a:r>
              <a:rPr sz="900" dirty="0"/>
              <a:t>Why happening?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50508" y="596646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4B91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50277" y="5669280"/>
            <a:ext cx="8046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dirty="0"/>
              <a:t>ALERT</a:t>
            </a:r>
          </a:p>
          <a:p>
            <a:pPr algn="ctr">
              <a:spcBef>
                <a:spcPts val="200"/>
              </a:spcBef>
              <a:defRPr sz="650">
                <a:solidFill>
                  <a:srgbClr val="555F6E"/>
                </a:solidFill>
              </a:defRPr>
            </a:pPr>
            <a:r>
              <a:rPr sz="900" dirty="0"/>
              <a:t>Who to notify?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4683" y="5966460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4B91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87231" y="5660166"/>
            <a:ext cx="804672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endParaRPr lang="en-IN" dirty="0"/>
          </a:p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dirty="0"/>
              <a:t>ROUTE</a:t>
            </a:r>
          </a:p>
          <a:p>
            <a:pPr algn="ctr">
              <a:spcBef>
                <a:spcPts val="200"/>
              </a:spcBef>
              <a:defRPr sz="650">
                <a:solidFill>
                  <a:srgbClr val="555F6E"/>
                </a:solidFill>
              </a:defRPr>
            </a:pPr>
            <a:r>
              <a:rPr sz="900" dirty="0"/>
              <a:t>What to avoid?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69061" y="5949172"/>
            <a:ext cx="137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194B91"/>
                </a:solidFill>
              </a:defRPr>
            </a:pPr>
            <a:r>
              <a:rPr dirty="0"/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124185" y="5660166"/>
            <a:ext cx="667512" cy="868680"/>
          </a:xfrm>
          <a:prstGeom prst="roundRect">
            <a:avLst/>
          </a:prstGeom>
          <a:solidFill>
            <a:schemeClr val="bg1"/>
          </a:solidFill>
          <a:ln w="10160">
            <a:solidFill>
              <a:srgbClr val="168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73152" rIns="18288"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/>
              <a:t>RESPOND</a:t>
            </a:r>
          </a:p>
          <a:p>
            <a:pPr algn="ctr">
              <a:spcBef>
                <a:spcPts val="200"/>
              </a:spcBef>
              <a:defRPr sz="650">
                <a:solidFill>
                  <a:srgbClr val="E6FFF0"/>
                </a:solidFill>
              </a:defRPr>
            </a:pPr>
            <a:r>
              <a:rPr dirty="0"/>
              <a:t>Safer city action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26190C-A818-5504-1704-1CFEFDF9225C}"/>
              </a:ext>
            </a:extLst>
          </p:cNvPr>
          <p:cNvSpPr txBox="1"/>
          <p:nvPr/>
        </p:nvSpPr>
        <p:spPr>
          <a:xfrm>
            <a:off x="-30170" y="13954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>
                <a:solidFill>
                  <a:srgbClr val="C55A11"/>
                </a:solidFill>
                <a:latin typeface="Blackadder ITC" panose="04020505051007020D02" pitchFamily="82" charset="0"/>
              </a:rPr>
              <a:t>Out</a:t>
            </a:r>
            <a:r>
              <a:rPr lang="en-IN" sz="1200" b="1" dirty="0" err="1">
                <a:solidFill>
                  <a:srgbClr val="2F5597"/>
                </a:solidFill>
                <a:latin typeface="Arial Black" panose="020B0A04020102020204" pitchFamily="34" charset="0"/>
              </a:rPr>
              <a:t>Thinkers</a:t>
            </a:r>
            <a:endParaRPr lang="en-IN" sz="1200" b="1" dirty="0">
              <a:solidFill>
                <a:srgbClr val="2F5597"/>
              </a:solidFill>
              <a:latin typeface="Arial Black" panose="020B0A04020102020204" pitchFamily="34" charset="0"/>
            </a:endParaRPr>
          </a:p>
        </p:txBody>
      </p:sp>
      <p:sp>
        <p:nvSpPr>
          <p:cNvPr id="53" name="TextBox 3">
            <a:extLst>
              <a:ext uri="{FF2B5EF4-FFF2-40B4-BE49-F238E27FC236}">
                <a16:creationId xmlns:a16="http://schemas.microsoft.com/office/drawing/2014/main" id="{8B3D4A4A-C05D-B833-B58A-E2925AB622F5}"/>
              </a:ext>
            </a:extLst>
          </p:cNvPr>
          <p:cNvSpPr txBox="1"/>
          <p:nvPr/>
        </p:nvSpPr>
        <p:spPr>
          <a:xfrm>
            <a:off x="11235" y="26872"/>
            <a:ext cx="6346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1" dirty="0">
                <a:solidFill>
                  <a:srgbClr val="2F5597"/>
                </a:solidFill>
                <a:latin typeface="Bookman Old Style" panose="02050604050505020204" pitchFamily="18" charset="0"/>
              </a:rPr>
              <a:t> The</a:t>
            </a:r>
          </a:p>
        </p:txBody>
      </p:sp>
      <p:grpSp>
        <p:nvGrpSpPr>
          <p:cNvPr id="54" name="Group 14">
            <a:extLst>
              <a:ext uri="{FF2B5EF4-FFF2-40B4-BE49-F238E27FC236}">
                <a16:creationId xmlns:a16="http://schemas.microsoft.com/office/drawing/2014/main" id="{85CF633D-8418-0289-DA73-9CA0F4743AD7}"/>
              </a:ext>
            </a:extLst>
          </p:cNvPr>
          <p:cNvGrpSpPr/>
          <p:nvPr/>
        </p:nvGrpSpPr>
        <p:grpSpPr>
          <a:xfrm>
            <a:off x="10097810" y="79325"/>
            <a:ext cx="2400163" cy="945837"/>
            <a:chOff x="10067238" y="81002"/>
            <a:chExt cx="2445729" cy="1280597"/>
          </a:xfrm>
        </p:grpSpPr>
        <p:sp>
          <p:nvSpPr>
            <p:cNvPr id="55" name="Rectangle 16">
              <a:extLst>
                <a:ext uri="{FF2B5EF4-FFF2-40B4-BE49-F238E27FC236}">
                  <a16:creationId xmlns:a16="http://schemas.microsoft.com/office/drawing/2014/main" id="{02DB6236-9FA5-5434-AF75-3817CEE2401C}"/>
                </a:ext>
              </a:extLst>
            </p:cNvPr>
            <p:cNvSpPr/>
            <p:nvPr/>
          </p:nvSpPr>
          <p:spPr>
            <a:xfrm>
              <a:off x="10067238" y="81002"/>
              <a:ext cx="2035073" cy="1280597"/>
            </a:xfrm>
            <a:custGeom>
              <a:avLst/>
              <a:gdLst>
                <a:gd name="csX0" fmla="*/ 0 w 2035073"/>
                <a:gd name="csY0" fmla="*/ 0 h 1280597"/>
                <a:gd name="csX1" fmla="*/ 447716 w 2035073"/>
                <a:gd name="csY1" fmla="*/ 0 h 1280597"/>
                <a:gd name="csX2" fmla="*/ 895432 w 2035073"/>
                <a:gd name="csY2" fmla="*/ 0 h 1280597"/>
                <a:gd name="csX3" fmla="*/ 1343148 w 2035073"/>
                <a:gd name="csY3" fmla="*/ 0 h 1280597"/>
                <a:gd name="csX4" fmla="*/ 2035073 w 2035073"/>
                <a:gd name="csY4" fmla="*/ 0 h 1280597"/>
                <a:gd name="csX5" fmla="*/ 2035073 w 2035073"/>
                <a:gd name="csY5" fmla="*/ 401254 h 1280597"/>
                <a:gd name="csX6" fmla="*/ 2035073 w 2035073"/>
                <a:gd name="csY6" fmla="*/ 802507 h 1280597"/>
                <a:gd name="csX7" fmla="*/ 2035073 w 2035073"/>
                <a:gd name="csY7" fmla="*/ 1280597 h 1280597"/>
                <a:gd name="csX8" fmla="*/ 1526305 w 2035073"/>
                <a:gd name="csY8" fmla="*/ 1280597 h 1280597"/>
                <a:gd name="csX9" fmla="*/ 976835 w 2035073"/>
                <a:gd name="csY9" fmla="*/ 1280597 h 1280597"/>
                <a:gd name="csX10" fmla="*/ 488418 w 2035073"/>
                <a:gd name="csY10" fmla="*/ 1280597 h 1280597"/>
                <a:gd name="csX11" fmla="*/ 0 w 2035073"/>
                <a:gd name="csY11" fmla="*/ 1280597 h 1280597"/>
                <a:gd name="csX12" fmla="*/ 0 w 2035073"/>
                <a:gd name="csY12" fmla="*/ 892149 h 1280597"/>
                <a:gd name="csX13" fmla="*/ 0 w 2035073"/>
                <a:gd name="csY13" fmla="*/ 439672 h 1280597"/>
                <a:gd name="csX14" fmla="*/ 0 w 2035073"/>
                <a:gd name="csY14" fmla="*/ 0 h 128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035073" h="1280597" fill="none" extrusionOk="0">
                  <a:moveTo>
                    <a:pt x="0" y="0"/>
                  </a:moveTo>
                  <a:cubicBezTo>
                    <a:pt x="120833" y="-33468"/>
                    <a:pt x="263378" y="39384"/>
                    <a:pt x="447716" y="0"/>
                  </a:cubicBezTo>
                  <a:cubicBezTo>
                    <a:pt x="632054" y="-39384"/>
                    <a:pt x="757485" y="21332"/>
                    <a:pt x="895432" y="0"/>
                  </a:cubicBezTo>
                  <a:cubicBezTo>
                    <a:pt x="1033379" y="-21332"/>
                    <a:pt x="1240555" y="4178"/>
                    <a:pt x="1343148" y="0"/>
                  </a:cubicBezTo>
                  <a:cubicBezTo>
                    <a:pt x="1445741" y="-4178"/>
                    <a:pt x="1709598" y="20540"/>
                    <a:pt x="2035073" y="0"/>
                  </a:cubicBezTo>
                  <a:cubicBezTo>
                    <a:pt x="2036279" y="187004"/>
                    <a:pt x="1995839" y="221527"/>
                    <a:pt x="2035073" y="401254"/>
                  </a:cubicBezTo>
                  <a:cubicBezTo>
                    <a:pt x="2074307" y="580981"/>
                    <a:pt x="2035001" y="687686"/>
                    <a:pt x="2035073" y="802507"/>
                  </a:cubicBezTo>
                  <a:cubicBezTo>
                    <a:pt x="2035145" y="917328"/>
                    <a:pt x="1979132" y="1050622"/>
                    <a:pt x="2035073" y="1280597"/>
                  </a:cubicBezTo>
                  <a:cubicBezTo>
                    <a:pt x="1911264" y="1280610"/>
                    <a:pt x="1629086" y="1275878"/>
                    <a:pt x="1526305" y="1280597"/>
                  </a:cubicBezTo>
                  <a:cubicBezTo>
                    <a:pt x="1423524" y="1285316"/>
                    <a:pt x="1132058" y="1235677"/>
                    <a:pt x="976835" y="1280597"/>
                  </a:cubicBezTo>
                  <a:cubicBezTo>
                    <a:pt x="821612" y="1325517"/>
                    <a:pt x="662481" y="1226169"/>
                    <a:pt x="488418" y="1280597"/>
                  </a:cubicBezTo>
                  <a:cubicBezTo>
                    <a:pt x="314355" y="1335025"/>
                    <a:pt x="114391" y="1243238"/>
                    <a:pt x="0" y="1280597"/>
                  </a:cubicBezTo>
                  <a:cubicBezTo>
                    <a:pt x="-43423" y="1103508"/>
                    <a:pt x="17670" y="1037525"/>
                    <a:pt x="0" y="892149"/>
                  </a:cubicBezTo>
                  <a:cubicBezTo>
                    <a:pt x="-17670" y="746773"/>
                    <a:pt x="48084" y="613607"/>
                    <a:pt x="0" y="439672"/>
                  </a:cubicBezTo>
                  <a:cubicBezTo>
                    <a:pt x="-48084" y="265737"/>
                    <a:pt x="13892" y="91518"/>
                    <a:pt x="0" y="0"/>
                  </a:cubicBezTo>
                  <a:close/>
                </a:path>
                <a:path w="2035073" h="1280597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1576" y="211260"/>
                    <a:pt x="1986216" y="235685"/>
                    <a:pt x="2035073" y="426866"/>
                  </a:cubicBezTo>
                  <a:cubicBezTo>
                    <a:pt x="2083930" y="618047"/>
                    <a:pt x="2010425" y="704846"/>
                    <a:pt x="2035073" y="853731"/>
                  </a:cubicBezTo>
                  <a:cubicBezTo>
                    <a:pt x="2059721" y="1002616"/>
                    <a:pt x="2016141" y="1143137"/>
                    <a:pt x="2035073" y="1280597"/>
                  </a:cubicBezTo>
                  <a:cubicBezTo>
                    <a:pt x="1917730" y="1324884"/>
                    <a:pt x="1758837" y="1278301"/>
                    <a:pt x="1505954" y="1280597"/>
                  </a:cubicBezTo>
                  <a:cubicBezTo>
                    <a:pt x="1253071" y="1282893"/>
                    <a:pt x="1170175" y="1231782"/>
                    <a:pt x="1058238" y="1280597"/>
                  </a:cubicBezTo>
                  <a:cubicBezTo>
                    <a:pt x="946301" y="1329412"/>
                    <a:pt x="827584" y="1257817"/>
                    <a:pt x="610522" y="1280597"/>
                  </a:cubicBezTo>
                  <a:cubicBezTo>
                    <a:pt x="393460" y="1303377"/>
                    <a:pt x="236069" y="1254144"/>
                    <a:pt x="0" y="1280597"/>
                  </a:cubicBezTo>
                  <a:cubicBezTo>
                    <a:pt x="-21401" y="1179435"/>
                    <a:pt x="30040" y="1044576"/>
                    <a:pt x="0" y="853731"/>
                  </a:cubicBezTo>
                  <a:cubicBezTo>
                    <a:pt x="-30040" y="662886"/>
                    <a:pt x="15645" y="619721"/>
                    <a:pt x="0" y="426866"/>
                  </a:cubicBezTo>
                  <a:cubicBezTo>
                    <a:pt x="-15645" y="234011"/>
                    <a:pt x="19384" y="14633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172C51"/>
              </a:solidFill>
              <a:prstDash val="solid"/>
              <a:miter lim="800000"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grpSp>
          <p:nvGrpSpPr>
            <p:cNvPr id="56" name="Group 19">
              <a:extLst>
                <a:ext uri="{FF2B5EF4-FFF2-40B4-BE49-F238E27FC236}">
                  <a16:creationId xmlns:a16="http://schemas.microsoft.com/office/drawing/2014/main" id="{7422E138-DED7-E15E-30E8-3EEBBABBFE64}"/>
                </a:ext>
              </a:extLst>
            </p:cNvPr>
            <p:cNvGrpSpPr/>
            <p:nvPr/>
          </p:nvGrpSpPr>
          <p:grpSpPr>
            <a:xfrm>
              <a:off x="10087334" y="120576"/>
              <a:ext cx="2425633" cy="1236843"/>
              <a:chOff x="10004776" y="0"/>
              <a:chExt cx="2724176" cy="1236843"/>
            </a:xfrm>
          </p:grpSpPr>
          <p:pic>
            <p:nvPicPr>
              <p:cNvPr id="57" name="Picture 20">
                <a:extLst>
                  <a:ext uri="{FF2B5EF4-FFF2-40B4-BE49-F238E27FC236}">
                    <a16:creationId xmlns:a16="http://schemas.microsoft.com/office/drawing/2014/main" id="{582A2155-99F4-0FF2-806A-53A7E1A6AC9A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58" name="TextBox 21">
                <a:extLst>
                  <a:ext uri="{FF2B5EF4-FFF2-40B4-BE49-F238E27FC236}">
                    <a16:creationId xmlns:a16="http://schemas.microsoft.com/office/drawing/2014/main" id="{F4B67C6B-C052-C967-B581-84420F031175}"/>
                  </a:ext>
                </a:extLst>
              </p:cNvPr>
              <p:cNvSpPr txBox="1"/>
              <p:nvPr/>
            </p:nvSpPr>
            <p:spPr>
              <a:xfrm>
                <a:off x="10949604" y="136875"/>
                <a:ext cx="1779348" cy="1099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400" b="1" dirty="0">
                    <a:solidFill>
                      <a:srgbClr val="2F5597"/>
                    </a:solidFill>
                    <a:latin typeface="Calibri"/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rgbClr val="2F5597"/>
                    </a:solidFill>
                    <a:latin typeface="Calibri"/>
                  </a:rPr>
                  <a:t>      2026</a:t>
                </a:r>
              </a:p>
            </p:txBody>
          </p:sp>
        </p:grpSp>
      </p:grpSp>
      <p:sp>
        <p:nvSpPr>
          <p:cNvPr id="2" name="AutoShape 2" descr="https://chatgpt.com/backend-api/estuary/content?id=file_00000000345c8208a75a18eb691481b4&amp;ts=496901&amp;p=fs&amp;cid=1&amp;sig=56e1cf446e240994e11e6ee9e08a4f37797d21f806ab583c17aed9a220a17def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14BBDC-9474-23BE-BAD3-6C9B5419FA04}"/>
              </a:ext>
            </a:extLst>
          </p:cNvPr>
          <p:cNvSpPr txBox="1"/>
          <p:nvPr/>
        </p:nvSpPr>
        <p:spPr>
          <a:xfrm>
            <a:off x="572904" y="1318673"/>
            <a:ext cx="2999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accent1">
                    <a:lumMod val="75000"/>
                  </a:schemeClr>
                </a:solidFill>
              </a:rPr>
              <a:t>Weather forecasts predict how much rain may fall, but not exactly </a:t>
            </a:r>
            <a:r>
              <a:rPr lang="en-IN" sz="900" b="1" dirty="0">
                <a:solidFill>
                  <a:schemeClr val="accent1">
                    <a:lumMod val="75000"/>
                  </a:schemeClr>
                </a:solidFill>
              </a:rPr>
              <a:t>which streets will flood, when, or how deep</a:t>
            </a:r>
            <a:r>
              <a:rPr lang="en-IN" sz="900" dirty="0">
                <a:solidFill>
                  <a:schemeClr val="accent1">
                    <a:lumMod val="75000"/>
                  </a:schemeClr>
                </a:solidFill>
              </a:rPr>
              <a:t>. Urban flooding depends on </a:t>
            </a:r>
            <a:r>
              <a:rPr lang="en-IN" sz="900" b="1" dirty="0">
                <a:solidFill>
                  <a:schemeClr val="accent1">
                    <a:lumMod val="75000"/>
                  </a:schemeClr>
                </a:solidFill>
              </a:rPr>
              <a:t>micro-topography, impervious surfaces, and underground drainage constraints.</a:t>
            </a:r>
            <a:endParaRPr lang="en-IN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37548502-7858-2950-B5D2-7AD504C35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60" y="2071937"/>
            <a:ext cx="390936" cy="37871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4E421231-FA48-75A9-1D3A-182E7A150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611" y="2035011"/>
            <a:ext cx="527998" cy="45257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0014DF8-72D4-1D93-0C96-1961CFF45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16" y="3166142"/>
            <a:ext cx="506795" cy="34505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A150DE5-740F-3F11-31BA-4A090D7DBA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1254" y="3233946"/>
            <a:ext cx="385922" cy="423573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D65DE80C-EF8D-8495-137A-60413B931493}"/>
              </a:ext>
            </a:extLst>
          </p:cNvPr>
          <p:cNvSpPr txBox="1"/>
          <p:nvPr/>
        </p:nvSpPr>
        <p:spPr>
          <a:xfrm>
            <a:off x="755430" y="2469671"/>
            <a:ext cx="13308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Which streets are at risk? </a:t>
            </a:r>
          </a:p>
          <a:p>
            <a:pPr lvl="0"/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Which junctions?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ECE823-A81A-9D25-B70A-81B0B0B08061}"/>
              </a:ext>
            </a:extLst>
          </p:cNvPr>
          <p:cNvSpPr txBox="1"/>
          <p:nvPr/>
        </p:nvSpPr>
        <p:spPr>
          <a:xfrm>
            <a:off x="2277239" y="2421523"/>
            <a:ext cx="12206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At what lead time? </a:t>
            </a:r>
          </a:p>
          <a:p>
            <a:pPr lvl="0"/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When will it impact?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26AE38B-31A6-D4CA-E078-FD514B6C4C0A}"/>
              </a:ext>
            </a:extLst>
          </p:cNvPr>
          <p:cNvSpPr txBox="1"/>
          <p:nvPr/>
        </p:nvSpPr>
        <p:spPr>
          <a:xfrm>
            <a:off x="764926" y="3492438"/>
            <a:ext cx="1307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Expected water depth? </a:t>
            </a:r>
          </a:p>
          <a:p>
            <a:pPr lvl="0"/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Which areas will be worst hit?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461B984-AA6A-B850-501B-3EABAAD4CE08}"/>
              </a:ext>
            </a:extLst>
          </p:cNvPr>
          <p:cNvSpPr txBox="1"/>
          <p:nvPr/>
        </p:nvSpPr>
        <p:spPr>
          <a:xfrm>
            <a:off x="2352367" y="3534135"/>
            <a:ext cx="11503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Which routes remain safe? </a:t>
            </a:r>
          </a:p>
          <a:p>
            <a:pPr lvl="0"/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Where to divert traffic?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01543BF2-8055-20FC-2512-57C628CD90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9072" y="1146238"/>
            <a:ext cx="590956" cy="469012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2034D625-5109-B835-F8B5-511C8B431D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573" y="1111502"/>
            <a:ext cx="670618" cy="39627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52CB1B41-7F36-D55D-61F7-4F22B11C44D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2987" y="1126558"/>
            <a:ext cx="548688" cy="381033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89CB2A68-8871-F94E-C6F7-37FAEED821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743" y="1104963"/>
            <a:ext cx="510584" cy="396274"/>
          </a:xfrm>
          <a:prstGeom prst="rect">
            <a:avLst/>
          </a:prstGeom>
        </p:spPr>
      </p:pic>
      <p:sp>
        <p:nvSpPr>
          <p:cNvPr id="87" name="Rounded Rectangle 14">
            <a:extLst>
              <a:ext uri="{FF2B5EF4-FFF2-40B4-BE49-F238E27FC236}">
                <a16:creationId xmlns:a16="http://schemas.microsoft.com/office/drawing/2014/main" id="{7633D042-0BBD-A495-B826-B87BBC5709C9}"/>
              </a:ext>
            </a:extLst>
          </p:cNvPr>
          <p:cNvSpPr/>
          <p:nvPr/>
        </p:nvSpPr>
        <p:spPr>
          <a:xfrm>
            <a:off x="4119072" y="2008626"/>
            <a:ext cx="3816685" cy="483225"/>
          </a:xfrm>
          <a:prstGeom prst="roundRect">
            <a:avLst/>
          </a:prstGeom>
          <a:solidFill>
            <a:srgbClr val="168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lang="en-IN" sz="1400" b="1" dirty="0">
                <a:solidFill>
                  <a:srgbClr val="FFFFFF"/>
                </a:solidFill>
              </a:rPr>
              <a:t>COUPLED SIMULATION ENGINE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rPr lang="en-IN" sz="1050" b="1" dirty="0">
                <a:solidFill>
                  <a:srgbClr val="FFFFFF"/>
                </a:solidFill>
              </a:rPr>
              <a:t>2D Surface Flow ↔ Underground Drainage Interaction</a:t>
            </a:r>
            <a:endParaRPr lang="en-IN" sz="1050" dirty="0"/>
          </a:p>
          <a:p>
            <a:pPr algn="ctr">
              <a:defRPr sz="95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5FE12EB9-D797-1F00-5B3D-97FBD8685FCC}"/>
              </a:ext>
            </a:extLst>
          </p:cNvPr>
          <p:cNvSpPr/>
          <p:nvPr/>
        </p:nvSpPr>
        <p:spPr>
          <a:xfrm>
            <a:off x="3729284" y="2546715"/>
            <a:ext cx="1400893" cy="12231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714E454-7240-1FBA-7B3A-BE2A603DD536}"/>
              </a:ext>
            </a:extLst>
          </p:cNvPr>
          <p:cNvSpPr/>
          <p:nvPr/>
        </p:nvSpPr>
        <p:spPr>
          <a:xfrm>
            <a:off x="6853202" y="2528427"/>
            <a:ext cx="1539260" cy="122319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B22EA837-D915-5D55-109C-6C447FE8386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9982" y="2609497"/>
            <a:ext cx="327753" cy="107391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61502D9A-A786-F38C-8A0E-F837EC96655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45798" y="2658502"/>
            <a:ext cx="225576" cy="1048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AAA4B2-92D0-9A1D-7DD4-7AFD4EEDEC98}"/>
              </a:ext>
            </a:extLst>
          </p:cNvPr>
          <p:cNvSpPr txBox="1"/>
          <p:nvPr/>
        </p:nvSpPr>
        <p:spPr>
          <a:xfrm>
            <a:off x="4024243" y="2544814"/>
            <a:ext cx="2071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Rainfall Processing</a:t>
            </a:r>
          </a:p>
          <a:p>
            <a:pPr>
              <a:buNone/>
            </a:pPr>
            <a:r>
              <a:rPr lang="en-IN" sz="900" i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IN" sz="900" i="1" dirty="0" err="1">
                <a:solidFill>
                  <a:schemeClr val="accent1">
                    <a:lumMod val="75000"/>
                  </a:schemeClr>
                </a:solidFill>
              </a:rPr>
              <a:t>Spatio</a:t>
            </a:r>
            <a:r>
              <a:rPr lang="en-IN" sz="900" i="1" dirty="0">
                <a:solidFill>
                  <a:schemeClr val="accent1">
                    <a:lumMod val="75000"/>
                  </a:schemeClr>
                </a:solidFill>
              </a:rPr>
              <a:t>-temporal)</a:t>
            </a:r>
            <a:endParaRPr lang="en-IN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D6977A-6488-BD2E-65B5-0D6F50498A4C}"/>
              </a:ext>
            </a:extLst>
          </p:cNvPr>
          <p:cNvSpPr txBox="1"/>
          <p:nvPr/>
        </p:nvSpPr>
        <p:spPr>
          <a:xfrm>
            <a:off x="4044560" y="2948331"/>
            <a:ext cx="109957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Runoff Generation</a:t>
            </a:r>
          </a:p>
          <a:p>
            <a:pPr>
              <a:buNone/>
            </a:pPr>
            <a:r>
              <a:rPr lang="en-IN" sz="900" i="1" dirty="0">
                <a:solidFill>
                  <a:schemeClr val="accent1">
                    <a:lumMod val="75000"/>
                  </a:schemeClr>
                </a:solidFill>
              </a:rPr>
              <a:t>(Considering imperviousness)</a:t>
            </a:r>
            <a:endParaRPr lang="en-IN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737208-1FEC-FE79-6323-5C0CA3EC3EEF}"/>
              </a:ext>
            </a:extLst>
          </p:cNvPr>
          <p:cNvSpPr txBox="1"/>
          <p:nvPr/>
        </p:nvSpPr>
        <p:spPr>
          <a:xfrm>
            <a:off x="4081221" y="3485807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2D Surface Flow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A13E0E-1E44-36A5-E24B-E3304CCBA611}"/>
              </a:ext>
            </a:extLst>
          </p:cNvPr>
          <p:cNvSpPr txBox="1"/>
          <p:nvPr/>
        </p:nvSpPr>
        <p:spPr>
          <a:xfrm>
            <a:off x="7139231" y="25448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Hydraulic Capacity</a:t>
            </a:r>
          </a:p>
          <a:p>
            <a:pPr>
              <a:buNone/>
            </a:pPr>
            <a:r>
              <a:rPr lang="en-IN" sz="900" i="1" dirty="0">
                <a:solidFill>
                  <a:schemeClr val="accent1">
                    <a:lumMod val="50000"/>
                  </a:schemeClr>
                </a:solidFill>
              </a:rPr>
              <a:t>(Flow estimation)</a:t>
            </a:r>
            <a:endParaRPr lang="en-IN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A9F5F7-D539-78A0-E949-4EDB3EA273F4}"/>
              </a:ext>
            </a:extLst>
          </p:cNvPr>
          <p:cNvSpPr txBox="1"/>
          <p:nvPr/>
        </p:nvSpPr>
        <p:spPr>
          <a:xfrm>
            <a:off x="7127775" y="2866870"/>
            <a:ext cx="6636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Drainage Interaction</a:t>
            </a:r>
          </a:p>
          <a:p>
            <a:pPr>
              <a:buNone/>
            </a:pPr>
            <a:r>
              <a:rPr lang="en-IN" sz="900" i="1" dirty="0">
                <a:solidFill>
                  <a:schemeClr val="accent1">
                    <a:lumMod val="75000"/>
                  </a:schemeClr>
                </a:solidFill>
              </a:rPr>
              <a:t>(Surface ↔ Network)</a:t>
            </a:r>
            <a:endParaRPr lang="en-IN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7E6FBB-4748-B58C-851B-A375FA215068}"/>
              </a:ext>
            </a:extLst>
          </p:cNvPr>
          <p:cNvSpPr txBox="1"/>
          <p:nvPr/>
        </p:nvSpPr>
        <p:spPr>
          <a:xfrm>
            <a:off x="7137551" y="3226569"/>
            <a:ext cx="12801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Surcharge / Backflow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F92207-49E9-C247-884E-A5CE7D79F694}"/>
              </a:ext>
            </a:extLst>
          </p:cNvPr>
          <p:cNvSpPr txBox="1"/>
          <p:nvPr/>
        </p:nvSpPr>
        <p:spPr>
          <a:xfrm>
            <a:off x="7103806" y="3429382"/>
            <a:ext cx="1980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Street-level Flood Depth</a:t>
            </a:r>
          </a:p>
          <a:p>
            <a:pPr>
              <a:buNone/>
            </a:pPr>
            <a:r>
              <a:rPr lang="en-IN" sz="900" i="1" dirty="0">
                <a:solidFill>
                  <a:schemeClr val="accent1">
                    <a:lumMod val="75000"/>
                  </a:schemeClr>
                </a:solidFill>
              </a:rPr>
              <a:t>(cm-level inundation)</a:t>
            </a:r>
            <a:endParaRPr lang="en-IN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052F8C4-E3F4-FE07-5F0F-17D1F23242DC}"/>
              </a:ext>
            </a:extLst>
          </p:cNvPr>
          <p:cNvSpPr/>
          <p:nvPr/>
        </p:nvSpPr>
        <p:spPr>
          <a:xfrm>
            <a:off x="5198139" y="2544815"/>
            <a:ext cx="1598428" cy="1225092"/>
          </a:xfrm>
          <a:prstGeom prst="roundRect">
            <a:avLst/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7E0B981-0141-25AF-B695-5D11D04E3DFB}"/>
              </a:ext>
            </a:extLst>
          </p:cNvPr>
          <p:cNvSpPr/>
          <p:nvPr/>
        </p:nvSpPr>
        <p:spPr>
          <a:xfrm>
            <a:off x="416527" y="4373109"/>
            <a:ext cx="3108960" cy="850657"/>
          </a:xfrm>
          <a:prstGeom prst="roundRect">
            <a:avLst/>
          </a:prstGeom>
          <a:blipFill>
            <a:blip r:embed="rId14"/>
            <a:stretch>
              <a:fillRect/>
            </a:stretch>
          </a:blipFill>
          <a:scene3d>
            <a:camera prst="orthographicFront"/>
            <a:lightRig rig="threePt" dir="t"/>
          </a:scene3d>
          <a:sp3d>
            <a:bevelB w="101600" prst="ribl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DFDF48C2-F2BD-C61D-7B8E-49BC9CEC4710}"/>
              </a:ext>
            </a:extLst>
          </p:cNvPr>
          <p:cNvSpPr/>
          <p:nvPr/>
        </p:nvSpPr>
        <p:spPr>
          <a:xfrm>
            <a:off x="3666946" y="4107292"/>
            <a:ext cx="4725516" cy="110187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ABFD141E-08C7-E00F-FE6B-C88E87E86307}"/>
              </a:ext>
            </a:extLst>
          </p:cNvPr>
          <p:cNvSpPr/>
          <p:nvPr/>
        </p:nvSpPr>
        <p:spPr>
          <a:xfrm>
            <a:off x="3729284" y="4468699"/>
            <a:ext cx="592853" cy="547190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08F2E664-A6C0-7A30-9036-D59A9B60D41F}"/>
              </a:ext>
            </a:extLst>
          </p:cNvPr>
          <p:cNvSpPr/>
          <p:nvPr/>
        </p:nvSpPr>
        <p:spPr>
          <a:xfrm>
            <a:off x="4384475" y="4468699"/>
            <a:ext cx="592853" cy="547190"/>
          </a:xfrm>
          <a:prstGeom prst="roundRect">
            <a:avLst/>
          </a:prstGeom>
          <a:blipFill>
            <a:blip r:embed="rId15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CF58B394-1B39-0D45-46D3-EBFC9314E3C4}"/>
              </a:ext>
            </a:extLst>
          </p:cNvPr>
          <p:cNvSpPr/>
          <p:nvPr/>
        </p:nvSpPr>
        <p:spPr>
          <a:xfrm>
            <a:off x="5023282" y="4473422"/>
            <a:ext cx="592853" cy="547190"/>
          </a:xfrm>
          <a:prstGeom prst="roundRect">
            <a:avLst/>
          </a:prstGeom>
          <a:blipFill>
            <a:blip r:embed="rId16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27E641E5-E442-2EFC-A3EB-B0D611ED9C5F}"/>
              </a:ext>
            </a:extLst>
          </p:cNvPr>
          <p:cNvSpPr/>
          <p:nvPr/>
        </p:nvSpPr>
        <p:spPr>
          <a:xfrm>
            <a:off x="5662089" y="4473422"/>
            <a:ext cx="592853" cy="547190"/>
          </a:xfrm>
          <a:prstGeom prst="roundRect">
            <a:avLst/>
          </a:prstGeom>
          <a:blipFill>
            <a:blip r:embed="rId17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68F0EE9-D6B7-F555-15F7-20D3EAFBC4FF}"/>
              </a:ext>
            </a:extLst>
          </p:cNvPr>
          <p:cNvSpPr/>
          <p:nvPr/>
        </p:nvSpPr>
        <p:spPr>
          <a:xfrm>
            <a:off x="6309184" y="4468699"/>
            <a:ext cx="592853" cy="547190"/>
          </a:xfrm>
          <a:prstGeom prst="roundRect">
            <a:avLst/>
          </a:prstGeom>
          <a:blipFill>
            <a:blip r:embed="rId18"/>
            <a:stretch>
              <a:fillRect/>
            </a:stretch>
          </a:blip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0236950-EA6A-3FAC-6343-D88C422384FE}"/>
              </a:ext>
            </a:extLst>
          </p:cNvPr>
          <p:cNvSpPr txBox="1"/>
          <p:nvPr/>
        </p:nvSpPr>
        <p:spPr>
          <a:xfrm>
            <a:off x="3686515" y="4166856"/>
            <a:ext cx="69621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OUTPUT: 0–3 HOUR STREET NOWCAST (GIS-based)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82DD9F3-1D8F-D5E2-C781-373470E471D6}"/>
              </a:ext>
            </a:extLst>
          </p:cNvPr>
          <p:cNvSpPr txBox="1"/>
          <p:nvPr/>
        </p:nvSpPr>
        <p:spPr>
          <a:xfrm>
            <a:off x="3764968" y="5006367"/>
            <a:ext cx="696217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NOW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7960713-A0E9-ACEC-B9A1-B184C2B90C5A}"/>
              </a:ext>
            </a:extLst>
          </p:cNvPr>
          <p:cNvSpPr txBox="1"/>
          <p:nvPr/>
        </p:nvSpPr>
        <p:spPr>
          <a:xfrm>
            <a:off x="4345697" y="4997480"/>
            <a:ext cx="7216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+30 min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2A2D868-327A-9581-EB6B-975CA6B7B3C6}"/>
              </a:ext>
            </a:extLst>
          </p:cNvPr>
          <p:cNvSpPr txBox="1"/>
          <p:nvPr/>
        </p:nvSpPr>
        <p:spPr>
          <a:xfrm>
            <a:off x="5021052" y="4997480"/>
            <a:ext cx="15822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+1 hour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E97F9F1-ACCF-C4C8-C788-4EB104C32EE5}"/>
              </a:ext>
            </a:extLst>
          </p:cNvPr>
          <p:cNvSpPr txBox="1"/>
          <p:nvPr/>
        </p:nvSpPr>
        <p:spPr>
          <a:xfrm>
            <a:off x="5614269" y="4997480"/>
            <a:ext cx="11503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+2 hours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526CEB4-2AEB-3F67-6142-956DB4B9D4FC}"/>
              </a:ext>
            </a:extLst>
          </p:cNvPr>
          <p:cNvSpPr txBox="1"/>
          <p:nvPr/>
        </p:nvSpPr>
        <p:spPr>
          <a:xfrm>
            <a:off x="6277735" y="4997481"/>
            <a:ext cx="28922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chemeClr val="accent1">
                    <a:lumMod val="50000"/>
                  </a:schemeClr>
                </a:solidFill>
              </a:rPr>
              <a:t>+3 hours</a:t>
            </a:r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B88A8B21-FDBB-0A38-3A34-3DBF791C86A8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374" y="4680981"/>
            <a:ext cx="158441" cy="461185"/>
          </a:xfrm>
          <a:prstGeom prst="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C7657980-B1FD-86AF-AC20-AA714647BE15}"/>
              </a:ext>
            </a:extLst>
          </p:cNvPr>
          <p:cNvSpPr txBox="1"/>
          <p:nvPr/>
        </p:nvSpPr>
        <p:spPr>
          <a:xfrm>
            <a:off x="7064316" y="4323278"/>
            <a:ext cx="13934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1" dirty="0">
                <a:solidFill>
                  <a:schemeClr val="accent1">
                    <a:lumMod val="50000"/>
                  </a:schemeClr>
                </a:solidFill>
              </a:rPr>
              <a:t> Water Depth</a:t>
            </a:r>
          </a:p>
          <a:p>
            <a:r>
              <a:rPr lang="en-IN" sz="900" dirty="0">
                <a:solidFill>
                  <a:schemeClr val="accent1">
                    <a:lumMod val="50000"/>
                  </a:schemeClr>
                </a:solidFill>
              </a:rPr>
              <a:t> (cm-level inundation)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053088B-A8F9-DB49-72EC-835600E10F5E}"/>
              </a:ext>
            </a:extLst>
          </p:cNvPr>
          <p:cNvSpPr txBox="1"/>
          <p:nvPr/>
        </p:nvSpPr>
        <p:spPr>
          <a:xfrm>
            <a:off x="7269190" y="4636448"/>
            <a:ext cx="6959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accent1">
                    <a:lumMod val="75000"/>
                  </a:schemeClr>
                </a:solidFill>
              </a:rPr>
              <a:t>Higher Flood Risk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4794558-A8BE-2950-6F50-61B069A82CE6}"/>
              </a:ext>
            </a:extLst>
          </p:cNvPr>
          <p:cNvSpPr txBox="1"/>
          <p:nvPr/>
        </p:nvSpPr>
        <p:spPr>
          <a:xfrm>
            <a:off x="7270799" y="4978774"/>
            <a:ext cx="11452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accent1">
                    <a:lumMod val="75000"/>
                  </a:schemeClr>
                </a:solidFill>
              </a:rPr>
              <a:t>Lower Flood Risk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81A8AF1F-D4BD-08C8-E82E-C3E1F920C7E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02201" y="1655830"/>
            <a:ext cx="662997" cy="838273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39F3D016-64F9-B278-E28D-E4514AD698B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15497" y="2827219"/>
            <a:ext cx="701101" cy="670618"/>
          </a:xfrm>
          <a:prstGeom prst="rect">
            <a:avLst/>
          </a:prstGeom>
        </p:spPr>
      </p:pic>
      <p:pic>
        <p:nvPicPr>
          <p:cNvPr id="121" name="Picture 120">
            <a:extLst>
              <a:ext uri="{FF2B5EF4-FFF2-40B4-BE49-F238E27FC236}">
                <a16:creationId xmlns:a16="http://schemas.microsoft.com/office/drawing/2014/main" id="{765DE7B4-8A4A-F126-ABDA-14D8439C817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92186" y="4048641"/>
            <a:ext cx="662997" cy="586791"/>
          </a:xfrm>
          <a:prstGeom prst="rect">
            <a:avLst/>
          </a:prstGeom>
        </p:spPr>
      </p:pic>
      <p:sp>
        <p:nvSpPr>
          <p:cNvPr id="123" name="TextBox 122">
            <a:extLst>
              <a:ext uri="{FF2B5EF4-FFF2-40B4-BE49-F238E27FC236}">
                <a16:creationId xmlns:a16="http://schemas.microsoft.com/office/drawing/2014/main" id="{E523FE56-5099-869E-22F5-F75D6047944B}"/>
              </a:ext>
            </a:extLst>
          </p:cNvPr>
          <p:cNvSpPr txBox="1"/>
          <p:nvPr/>
        </p:nvSpPr>
        <p:spPr>
          <a:xfrm>
            <a:off x="9499400" y="1641838"/>
            <a:ext cx="1908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MUNICIPALITIES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351CB379-0306-4A03-6570-1ED6DF72D1D3}"/>
              </a:ext>
            </a:extLst>
          </p:cNvPr>
          <p:cNvCxnSpPr>
            <a:cxnSpLocks/>
          </p:cNvCxnSpPr>
          <p:nvPr/>
        </p:nvCxnSpPr>
        <p:spPr>
          <a:xfrm>
            <a:off x="9513990" y="2008626"/>
            <a:ext cx="2229769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00895963-F35E-EB64-0E19-C7276B7BD4CF}"/>
              </a:ext>
            </a:extLst>
          </p:cNvPr>
          <p:cNvSpPr txBox="1"/>
          <p:nvPr/>
        </p:nvSpPr>
        <p:spPr>
          <a:xfrm>
            <a:off x="9502663" y="2785238"/>
            <a:ext cx="2874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EMERGENCY SERVICES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A44734D-E2D2-6E29-66FA-C4ED8BF9D842}"/>
              </a:ext>
            </a:extLst>
          </p:cNvPr>
          <p:cNvCxnSpPr>
            <a:cxnSpLocks/>
          </p:cNvCxnSpPr>
          <p:nvPr/>
        </p:nvCxnSpPr>
        <p:spPr>
          <a:xfrm>
            <a:off x="9525965" y="3166142"/>
            <a:ext cx="22297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82C63DDC-AB42-D9DA-455E-EB2A4C82D26B}"/>
              </a:ext>
            </a:extLst>
          </p:cNvPr>
          <p:cNvSpPr txBox="1"/>
          <p:nvPr/>
        </p:nvSpPr>
        <p:spPr>
          <a:xfrm>
            <a:off x="9338874" y="4057848"/>
            <a:ext cx="2904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7030A0"/>
                </a:solidFill>
              </a:rPr>
              <a:t>CITIZENS / COMMUTERS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D01232B0-635B-31D3-B892-82DB1B213F30}"/>
              </a:ext>
            </a:extLst>
          </p:cNvPr>
          <p:cNvCxnSpPr>
            <a:cxnSpLocks/>
          </p:cNvCxnSpPr>
          <p:nvPr/>
        </p:nvCxnSpPr>
        <p:spPr>
          <a:xfrm>
            <a:off x="9478823" y="4443855"/>
            <a:ext cx="222976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34" name="Picture 133">
            <a:extLst>
              <a:ext uri="{FF2B5EF4-FFF2-40B4-BE49-F238E27FC236}">
                <a16:creationId xmlns:a16="http://schemas.microsoft.com/office/drawing/2014/main" id="{9BA468B6-EC01-A722-0AC9-DC7DCA0B883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76946" y="2047565"/>
            <a:ext cx="312447" cy="586791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E3AA30C8-F1C3-D46E-C518-F57765FA2DC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71965" y="3185670"/>
            <a:ext cx="281964" cy="594412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394DA000-0144-D175-B815-B3F7F615CC1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693871" y="4502904"/>
            <a:ext cx="204331" cy="578937"/>
          </a:xfrm>
          <a:prstGeom prst="rect">
            <a:avLst/>
          </a:prstGeom>
        </p:spPr>
      </p:pic>
      <p:sp>
        <p:nvSpPr>
          <p:cNvPr id="140" name="TextBox 139">
            <a:extLst>
              <a:ext uri="{FF2B5EF4-FFF2-40B4-BE49-F238E27FC236}">
                <a16:creationId xmlns:a16="http://schemas.microsoft.com/office/drawing/2014/main" id="{E4DCC76A-39AC-0BCD-526B-79DF009706D8}"/>
              </a:ext>
            </a:extLst>
          </p:cNvPr>
          <p:cNvSpPr txBox="1"/>
          <p:nvPr/>
        </p:nvSpPr>
        <p:spPr>
          <a:xfrm>
            <a:off x="9948886" y="2046149"/>
            <a:ext cx="7218932" cy="591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Monitor </a:t>
            </a:r>
          </a:p>
          <a:p>
            <a:pPr lvl="0"/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Prioritize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23B15B1-4000-03F6-ED4A-FA9BB20720CD}"/>
              </a:ext>
            </a:extLst>
          </p:cNvPr>
          <p:cNvSpPr txBox="1"/>
          <p:nvPr/>
        </p:nvSpPr>
        <p:spPr>
          <a:xfrm>
            <a:off x="9963614" y="3143682"/>
            <a:ext cx="8663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Route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D2AC373-4FAA-B0D9-403C-14434B771489}"/>
              </a:ext>
            </a:extLst>
          </p:cNvPr>
          <p:cNvSpPr txBox="1"/>
          <p:nvPr/>
        </p:nvSpPr>
        <p:spPr>
          <a:xfrm>
            <a:off x="9972853" y="3477049"/>
            <a:ext cx="101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Respond</a:t>
            </a:r>
            <a:endParaRPr lang="en-IN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59098E3-8E00-3B07-3429-4DFC4D099F10}"/>
              </a:ext>
            </a:extLst>
          </p:cNvPr>
          <p:cNvSpPr txBox="1"/>
          <p:nvPr/>
        </p:nvSpPr>
        <p:spPr>
          <a:xfrm>
            <a:off x="9960013" y="4497590"/>
            <a:ext cx="9392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Get Alerts</a:t>
            </a:r>
            <a:endParaRPr lang="en-IN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CC3422B-D894-F772-EB92-E385EA7AAF49}"/>
              </a:ext>
            </a:extLst>
          </p:cNvPr>
          <p:cNvSpPr txBox="1"/>
          <p:nvPr/>
        </p:nvSpPr>
        <p:spPr>
          <a:xfrm>
            <a:off x="9966965" y="4765281"/>
            <a:ext cx="156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Plan Travel</a:t>
            </a:r>
            <a:endParaRPr lang="en-IN" dirty="0"/>
          </a:p>
        </p:txBody>
      </p:sp>
      <p:pic>
        <p:nvPicPr>
          <p:cNvPr id="150" name="Picture 149">
            <a:extLst>
              <a:ext uri="{FF2B5EF4-FFF2-40B4-BE49-F238E27FC236}">
                <a16:creationId xmlns:a16="http://schemas.microsoft.com/office/drawing/2014/main" id="{D53FE26A-718F-1809-E1FF-22776F6E290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82517" y="5742107"/>
            <a:ext cx="304826" cy="304826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428E5263-E4A0-FD44-6FD5-32DA65AFB3FC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34382" y="5741324"/>
            <a:ext cx="396274" cy="304826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D5C82DBD-775D-3B60-F40C-B64A80CB062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76248" y="5744187"/>
            <a:ext cx="320068" cy="320068"/>
          </a:xfrm>
          <a:prstGeom prst="rect">
            <a:avLst/>
          </a:prstGeom>
        </p:spPr>
      </p:pic>
      <p:pic>
        <p:nvPicPr>
          <p:cNvPr id="156" name="Picture 155">
            <a:extLst>
              <a:ext uri="{FF2B5EF4-FFF2-40B4-BE49-F238E27FC236}">
                <a16:creationId xmlns:a16="http://schemas.microsoft.com/office/drawing/2014/main" id="{D27E0316-2254-9BBC-1A1E-26A8C086753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380009" y="5747421"/>
            <a:ext cx="396274" cy="289585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F0703EBB-94AB-BBCC-088F-78EDB5BD8DF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211580" y="5756054"/>
            <a:ext cx="426757" cy="320068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017995B1-E7CE-9027-72A3-46B125526246}"/>
              </a:ext>
            </a:extLst>
          </p:cNvPr>
          <p:cNvSpPr txBox="1"/>
          <p:nvPr/>
        </p:nvSpPr>
        <p:spPr>
          <a:xfrm>
            <a:off x="6581141" y="6014594"/>
            <a:ext cx="975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264A"/>
                </a:solidFill>
              </a:defRPr>
            </a:pPr>
            <a:r>
              <a:rPr lang="en-IN" sz="800" dirty="0">
                <a:solidFill>
                  <a:schemeClr val="accent6">
                    <a:lumMod val="50000"/>
                  </a:schemeClr>
                </a:solidFill>
              </a:rPr>
              <a:t>Respond</a:t>
            </a:r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id="{AD50FC33-417A-6C36-3F12-85D7C17C31B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3715" y="5793556"/>
            <a:ext cx="357180" cy="403268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4CB5A56A-72B3-91B5-7FF5-3F9D4A8A6A4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959940" y="5732778"/>
            <a:ext cx="393088" cy="393088"/>
          </a:xfrm>
          <a:prstGeom prst="rect">
            <a:avLst/>
          </a:prstGeom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6F43B881-0EE6-D567-D459-493771825739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291315" y="5751035"/>
            <a:ext cx="381672" cy="381672"/>
          </a:xfrm>
          <a:prstGeom prst="rect">
            <a:avLst/>
          </a:prstGeom>
        </p:spPr>
      </p:pic>
      <p:pic>
        <p:nvPicPr>
          <p:cNvPr id="170" name="Picture 169">
            <a:extLst>
              <a:ext uri="{FF2B5EF4-FFF2-40B4-BE49-F238E27FC236}">
                <a16:creationId xmlns:a16="http://schemas.microsoft.com/office/drawing/2014/main" id="{056E1BBC-A1E5-4D31-7160-4D6555A9861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640430" y="5782618"/>
            <a:ext cx="336898" cy="347766"/>
          </a:xfrm>
          <a:prstGeom prst="rect">
            <a:avLst/>
          </a:prstGeom>
        </p:spPr>
      </p:pic>
      <p:pic>
        <p:nvPicPr>
          <p:cNvPr id="172" name="Picture 171">
            <a:extLst>
              <a:ext uri="{FF2B5EF4-FFF2-40B4-BE49-F238E27FC236}">
                <a16:creationId xmlns:a16="http://schemas.microsoft.com/office/drawing/2014/main" id="{BA5F0C15-BFD1-F25B-EBD6-E59C438E8E53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940539" y="5771673"/>
            <a:ext cx="408788" cy="451819"/>
          </a:xfrm>
          <a:prstGeom prst="rect">
            <a:avLst/>
          </a:prstGeom>
        </p:spPr>
      </p:pic>
      <p:sp>
        <p:nvSpPr>
          <p:cNvPr id="174" name="TextBox 173">
            <a:extLst>
              <a:ext uri="{FF2B5EF4-FFF2-40B4-BE49-F238E27FC236}">
                <a16:creationId xmlns:a16="http://schemas.microsoft.com/office/drawing/2014/main" id="{D4BBB114-9818-B205-6A38-1EB911B6EB02}"/>
              </a:ext>
            </a:extLst>
          </p:cNvPr>
          <p:cNvSpPr txBox="1"/>
          <p:nvPr/>
        </p:nvSpPr>
        <p:spPr>
          <a:xfrm>
            <a:off x="1085779" y="5821373"/>
            <a:ext cx="13886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COUPLED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8B4BF7A-6200-4F2C-E725-3A18BFD455F7}"/>
              </a:ext>
            </a:extLst>
          </p:cNvPr>
          <p:cNvSpPr txBox="1"/>
          <p:nvPr/>
        </p:nvSpPr>
        <p:spPr>
          <a:xfrm>
            <a:off x="2277239" y="5821373"/>
            <a:ext cx="975745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HYPER-LOCAL</a:t>
            </a:r>
            <a:endParaRPr lang="en-IN" b="1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9444479-AB8B-4090-E4D0-1C375A167EF4}"/>
              </a:ext>
            </a:extLst>
          </p:cNvPr>
          <p:cNvSpPr txBox="1"/>
          <p:nvPr/>
        </p:nvSpPr>
        <p:spPr>
          <a:xfrm>
            <a:off x="3621011" y="5733220"/>
            <a:ext cx="9065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FORWARD-LOOKING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0932FF6-3FDF-D964-FCB7-CFBAE80ABDFF}"/>
              </a:ext>
            </a:extLst>
          </p:cNvPr>
          <p:cNvSpPr txBox="1"/>
          <p:nvPr/>
        </p:nvSpPr>
        <p:spPr>
          <a:xfrm>
            <a:off x="4914334" y="5815100"/>
            <a:ext cx="9753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EXPLAINABLE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05404558-CC5E-4669-968C-F333FD0F3029}"/>
              </a:ext>
            </a:extLst>
          </p:cNvPr>
          <p:cNvSpPr txBox="1"/>
          <p:nvPr/>
        </p:nvSpPr>
        <p:spPr>
          <a:xfrm>
            <a:off x="6254942" y="5815100"/>
            <a:ext cx="9753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50000"/>
                  </a:schemeClr>
                </a:solidFill>
              </a:rPr>
              <a:t>ACTIONABLE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5E30F42-EE1F-05E5-287F-65AF89C0D3C1}"/>
              </a:ext>
            </a:extLst>
          </p:cNvPr>
          <p:cNvSpPr txBox="1"/>
          <p:nvPr/>
        </p:nvSpPr>
        <p:spPr>
          <a:xfrm>
            <a:off x="607680" y="6137684"/>
            <a:ext cx="1400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accent1">
                    <a:lumMod val="75000"/>
                  </a:schemeClr>
                </a:solidFill>
              </a:rPr>
              <a:t>Surface + underground drainage modelling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E65D39C8-36B4-A87B-3DFC-795A3553695A}"/>
              </a:ext>
            </a:extLst>
          </p:cNvPr>
          <p:cNvSpPr txBox="1"/>
          <p:nvPr/>
        </p:nvSpPr>
        <p:spPr>
          <a:xfrm>
            <a:off x="1997658" y="6159514"/>
            <a:ext cx="1125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accent1">
                    <a:lumMod val="75000"/>
                  </a:schemeClr>
                </a:solidFill>
              </a:rPr>
              <a:t>Street / junction level depth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847726A-C6AE-DFBD-0D61-2BCDA7679EB0}"/>
              </a:ext>
            </a:extLst>
          </p:cNvPr>
          <p:cNvSpPr txBox="1"/>
          <p:nvPr/>
        </p:nvSpPr>
        <p:spPr>
          <a:xfrm>
            <a:off x="3359153" y="6166542"/>
            <a:ext cx="1158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accent1">
                    <a:lumMod val="75000"/>
                  </a:schemeClr>
                </a:solidFill>
              </a:rPr>
              <a:t>NOW → 3 hour evolution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8DE407C8-8EE0-098C-F064-696C42C68A0F}"/>
              </a:ext>
            </a:extLst>
          </p:cNvPr>
          <p:cNvSpPr txBox="1"/>
          <p:nvPr/>
        </p:nvSpPr>
        <p:spPr>
          <a:xfrm>
            <a:off x="4560009" y="6159514"/>
            <a:ext cx="1384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accent1">
                    <a:lumMod val="75000"/>
                  </a:schemeClr>
                </a:solidFill>
              </a:rPr>
              <a:t>Linked to rain, terrain, capacity &amp; blockage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93860086-0FF8-0600-2B8C-87C80E9ED48F}"/>
              </a:ext>
            </a:extLst>
          </p:cNvPr>
          <p:cNvSpPr txBox="1"/>
          <p:nvPr/>
        </p:nvSpPr>
        <p:spPr>
          <a:xfrm>
            <a:off x="5994672" y="6149297"/>
            <a:ext cx="115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accent1">
                    <a:lumMod val="75000"/>
                  </a:schemeClr>
                </a:solidFill>
              </a:rPr>
              <a:t>From forecast to alerts &amp; safe routes</a:t>
            </a: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5A64996C-72CA-053D-5E49-A13B5ED3B22D}"/>
              </a:ext>
            </a:extLst>
          </p:cNvPr>
          <p:cNvSpPr/>
          <p:nvPr/>
        </p:nvSpPr>
        <p:spPr>
          <a:xfrm>
            <a:off x="2302646" y="3935369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ACA4E596-8021-892B-D240-07A737E091FC}"/>
              </a:ext>
            </a:extLst>
          </p:cNvPr>
          <p:cNvSpPr/>
          <p:nvPr/>
        </p:nvSpPr>
        <p:spPr>
          <a:xfrm>
            <a:off x="740681" y="287204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EE9BC30C-78A6-A0DB-85EB-4DFC856335A8}"/>
              </a:ext>
            </a:extLst>
          </p:cNvPr>
          <p:cNvSpPr/>
          <p:nvPr/>
        </p:nvSpPr>
        <p:spPr>
          <a:xfrm>
            <a:off x="2292275" y="3641962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D98FDA35-1335-00E1-7847-2AF705AE9593}"/>
              </a:ext>
            </a:extLst>
          </p:cNvPr>
          <p:cNvSpPr/>
          <p:nvPr/>
        </p:nvSpPr>
        <p:spPr>
          <a:xfrm>
            <a:off x="722497" y="389892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9640EED2-CE1F-8014-B9C4-45013C3A9345}"/>
              </a:ext>
            </a:extLst>
          </p:cNvPr>
          <p:cNvSpPr/>
          <p:nvPr/>
        </p:nvSpPr>
        <p:spPr>
          <a:xfrm>
            <a:off x="740189" y="256530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40D89493-FFAF-5583-8C1B-941AE81C317B}"/>
              </a:ext>
            </a:extLst>
          </p:cNvPr>
          <p:cNvSpPr/>
          <p:nvPr/>
        </p:nvSpPr>
        <p:spPr>
          <a:xfrm>
            <a:off x="2243220" y="253802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1E56AC0D-95DC-592F-F6AF-72BD7B68D0C7}"/>
              </a:ext>
            </a:extLst>
          </p:cNvPr>
          <p:cNvSpPr/>
          <p:nvPr/>
        </p:nvSpPr>
        <p:spPr>
          <a:xfrm>
            <a:off x="729623" y="358974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5D8EAA06-E56E-39B6-FDF9-A581C56D7D55}"/>
              </a:ext>
            </a:extLst>
          </p:cNvPr>
          <p:cNvSpPr/>
          <p:nvPr/>
        </p:nvSpPr>
        <p:spPr>
          <a:xfrm>
            <a:off x="2244472" y="268889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extBox 1048762"/>
          <p:cNvSpPr txBox="1"/>
          <p:nvPr/>
        </p:nvSpPr>
        <p:spPr>
          <a:xfrm>
            <a:off x="3214073" y="-8992"/>
            <a:ext cx="5221269" cy="62484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en-IN" sz="3600" b="1" dirty="0">
                <a:solidFill>
                  <a:srgbClr val="000000"/>
                </a:solidFill>
                <a:latin typeface="New SEC Num Fixed VF"/>
                <a:cs typeface="Noto Sans Adlam"/>
              </a:rPr>
              <a:t>TECHNICAL APPROACH </a:t>
            </a:r>
            <a:endParaRPr lang="en-IN" sz="2800" b="1" dirty="0">
              <a:solidFill>
                <a:srgbClr val="000000"/>
              </a:solidFill>
              <a:latin typeface="New SEC Num Fixed VF"/>
              <a:cs typeface="Noto Sans Adlam"/>
            </a:endParaRPr>
          </a:p>
        </p:txBody>
      </p:sp>
      <p:grpSp>
        <p:nvGrpSpPr>
          <p:cNvPr id="50" name="Group 14"/>
          <p:cNvGrpSpPr/>
          <p:nvPr/>
        </p:nvGrpSpPr>
        <p:grpSpPr>
          <a:xfrm>
            <a:off x="9714026" y="50860"/>
            <a:ext cx="2368193" cy="838260"/>
            <a:chOff x="10067239" y="81002"/>
            <a:chExt cx="2055171" cy="1280597"/>
          </a:xfrm>
        </p:grpSpPr>
        <p:sp>
          <p:nvSpPr>
            <p:cNvPr id="1048766" name="Rectangle 16"/>
            <p:cNvSpPr/>
            <p:nvPr/>
          </p:nvSpPr>
          <p:spPr>
            <a:xfrm>
              <a:off x="10067239" y="81002"/>
              <a:ext cx="2035073" cy="1280597"/>
            </a:xfrm>
            <a:custGeom>
              <a:avLst/>
              <a:gdLst>
                <a:gd name="csX0" fmla="*/ 0 w 2035073"/>
                <a:gd name="csY0" fmla="*/ 0 h 1280597"/>
                <a:gd name="csX1" fmla="*/ 447716 w 2035073"/>
                <a:gd name="csY1" fmla="*/ 0 h 1280597"/>
                <a:gd name="csX2" fmla="*/ 895432 w 2035073"/>
                <a:gd name="csY2" fmla="*/ 0 h 1280597"/>
                <a:gd name="csX3" fmla="*/ 1343148 w 2035073"/>
                <a:gd name="csY3" fmla="*/ 0 h 1280597"/>
                <a:gd name="csX4" fmla="*/ 2035073 w 2035073"/>
                <a:gd name="csY4" fmla="*/ 0 h 1280597"/>
                <a:gd name="csX5" fmla="*/ 2035073 w 2035073"/>
                <a:gd name="csY5" fmla="*/ 401254 h 1280597"/>
                <a:gd name="csX6" fmla="*/ 2035073 w 2035073"/>
                <a:gd name="csY6" fmla="*/ 802507 h 1280597"/>
                <a:gd name="csX7" fmla="*/ 2035073 w 2035073"/>
                <a:gd name="csY7" fmla="*/ 1280597 h 1280597"/>
                <a:gd name="csX8" fmla="*/ 1526305 w 2035073"/>
                <a:gd name="csY8" fmla="*/ 1280597 h 1280597"/>
                <a:gd name="csX9" fmla="*/ 976835 w 2035073"/>
                <a:gd name="csY9" fmla="*/ 1280597 h 1280597"/>
                <a:gd name="csX10" fmla="*/ 488418 w 2035073"/>
                <a:gd name="csY10" fmla="*/ 1280597 h 1280597"/>
                <a:gd name="csX11" fmla="*/ 0 w 2035073"/>
                <a:gd name="csY11" fmla="*/ 1280597 h 1280597"/>
                <a:gd name="csX12" fmla="*/ 0 w 2035073"/>
                <a:gd name="csY12" fmla="*/ 892149 h 1280597"/>
                <a:gd name="csX13" fmla="*/ 0 w 2035073"/>
                <a:gd name="csY13" fmla="*/ 439672 h 1280597"/>
                <a:gd name="csX14" fmla="*/ 0 w 2035073"/>
                <a:gd name="csY14" fmla="*/ 0 h 128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035073" h="1280597" fill="none" extrusionOk="0">
                  <a:moveTo>
                    <a:pt x="0" y="0"/>
                  </a:moveTo>
                  <a:cubicBezTo>
                    <a:pt x="120833" y="-33468"/>
                    <a:pt x="263378" y="39384"/>
                    <a:pt x="447716" y="0"/>
                  </a:cubicBezTo>
                  <a:cubicBezTo>
                    <a:pt x="632054" y="-39384"/>
                    <a:pt x="757485" y="21332"/>
                    <a:pt x="895432" y="0"/>
                  </a:cubicBezTo>
                  <a:cubicBezTo>
                    <a:pt x="1033379" y="-21332"/>
                    <a:pt x="1240555" y="4178"/>
                    <a:pt x="1343148" y="0"/>
                  </a:cubicBezTo>
                  <a:cubicBezTo>
                    <a:pt x="1445741" y="-4178"/>
                    <a:pt x="1709598" y="20540"/>
                    <a:pt x="2035073" y="0"/>
                  </a:cubicBezTo>
                  <a:cubicBezTo>
                    <a:pt x="2036279" y="187004"/>
                    <a:pt x="1995839" y="221527"/>
                    <a:pt x="2035073" y="401254"/>
                  </a:cubicBezTo>
                  <a:cubicBezTo>
                    <a:pt x="2074307" y="580981"/>
                    <a:pt x="2035001" y="687686"/>
                    <a:pt x="2035073" y="802507"/>
                  </a:cubicBezTo>
                  <a:cubicBezTo>
                    <a:pt x="2035145" y="917328"/>
                    <a:pt x="1979132" y="1050622"/>
                    <a:pt x="2035073" y="1280597"/>
                  </a:cubicBezTo>
                  <a:cubicBezTo>
                    <a:pt x="1911264" y="1280610"/>
                    <a:pt x="1629086" y="1275878"/>
                    <a:pt x="1526305" y="1280597"/>
                  </a:cubicBezTo>
                  <a:cubicBezTo>
                    <a:pt x="1423524" y="1285316"/>
                    <a:pt x="1132058" y="1235677"/>
                    <a:pt x="976835" y="1280597"/>
                  </a:cubicBezTo>
                  <a:cubicBezTo>
                    <a:pt x="821612" y="1325517"/>
                    <a:pt x="662481" y="1226169"/>
                    <a:pt x="488418" y="1280597"/>
                  </a:cubicBezTo>
                  <a:cubicBezTo>
                    <a:pt x="314355" y="1335025"/>
                    <a:pt x="114391" y="1243238"/>
                    <a:pt x="0" y="1280597"/>
                  </a:cubicBezTo>
                  <a:cubicBezTo>
                    <a:pt x="-43423" y="1103508"/>
                    <a:pt x="17670" y="1037525"/>
                    <a:pt x="0" y="892149"/>
                  </a:cubicBezTo>
                  <a:cubicBezTo>
                    <a:pt x="-17670" y="746773"/>
                    <a:pt x="48084" y="613607"/>
                    <a:pt x="0" y="439672"/>
                  </a:cubicBezTo>
                  <a:cubicBezTo>
                    <a:pt x="-48084" y="265737"/>
                    <a:pt x="13892" y="91518"/>
                    <a:pt x="0" y="0"/>
                  </a:cubicBezTo>
                  <a:close/>
                </a:path>
                <a:path w="2035073" h="1280597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1576" y="211260"/>
                    <a:pt x="1986216" y="235685"/>
                    <a:pt x="2035073" y="426866"/>
                  </a:cubicBezTo>
                  <a:cubicBezTo>
                    <a:pt x="2083930" y="618047"/>
                    <a:pt x="2010425" y="704846"/>
                    <a:pt x="2035073" y="853731"/>
                  </a:cubicBezTo>
                  <a:cubicBezTo>
                    <a:pt x="2059721" y="1002616"/>
                    <a:pt x="2016141" y="1143137"/>
                    <a:pt x="2035073" y="1280597"/>
                  </a:cubicBezTo>
                  <a:cubicBezTo>
                    <a:pt x="1917730" y="1324884"/>
                    <a:pt x="1758837" y="1278301"/>
                    <a:pt x="1505954" y="1280597"/>
                  </a:cubicBezTo>
                  <a:cubicBezTo>
                    <a:pt x="1253071" y="1282893"/>
                    <a:pt x="1170175" y="1231782"/>
                    <a:pt x="1058238" y="1280597"/>
                  </a:cubicBezTo>
                  <a:cubicBezTo>
                    <a:pt x="946301" y="1329412"/>
                    <a:pt x="827584" y="1257817"/>
                    <a:pt x="610522" y="1280597"/>
                  </a:cubicBezTo>
                  <a:cubicBezTo>
                    <a:pt x="393460" y="1303377"/>
                    <a:pt x="236069" y="1254144"/>
                    <a:pt x="0" y="1280597"/>
                  </a:cubicBezTo>
                  <a:cubicBezTo>
                    <a:pt x="-21401" y="1179435"/>
                    <a:pt x="30040" y="1044576"/>
                    <a:pt x="0" y="853731"/>
                  </a:cubicBezTo>
                  <a:cubicBezTo>
                    <a:pt x="-30040" y="662886"/>
                    <a:pt x="15645" y="619721"/>
                    <a:pt x="0" y="426866"/>
                  </a:cubicBezTo>
                  <a:cubicBezTo>
                    <a:pt x="-15645" y="234011"/>
                    <a:pt x="19384" y="14633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solidFill>
                <a:srgbClr val="172C51"/>
              </a:solidFill>
              <a:prstDash val="solid"/>
              <a:miter lim="800000"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dirty="0"/>
            </a:p>
          </p:txBody>
        </p:sp>
        <p:grpSp>
          <p:nvGrpSpPr>
            <p:cNvPr id="52" name="Group 19"/>
            <p:cNvGrpSpPr/>
            <p:nvPr/>
          </p:nvGrpSpPr>
          <p:grpSpPr>
            <a:xfrm>
              <a:off x="10087337" y="101469"/>
              <a:ext cx="2035073" cy="1211033"/>
              <a:chOff x="10004776" y="-19107"/>
              <a:chExt cx="2285546" cy="1211033"/>
            </a:xfrm>
          </p:grpSpPr>
          <p:pic>
            <p:nvPicPr>
              <p:cNvPr id="2097210" name="Picture 20"/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1048767" name="TextBox 21"/>
              <p:cNvSpPr txBox="1"/>
              <p:nvPr/>
            </p:nvSpPr>
            <p:spPr>
              <a:xfrm>
                <a:off x="10923638" y="-19107"/>
                <a:ext cx="1366684" cy="110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1400" b="1" dirty="0">
                    <a:solidFill>
                      <a:srgbClr val="2F5597"/>
                    </a:solidFill>
                    <a:latin typeface="Calibri"/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rgbClr val="2F5597"/>
                    </a:solidFill>
                    <a:latin typeface="Calibri"/>
                  </a:rPr>
                  <a:t>      2026</a:t>
                </a:r>
              </a:p>
            </p:txBody>
          </p:sp>
        </p:grpSp>
      </p:grpSp>
      <p:sp>
        <p:nvSpPr>
          <p:cNvPr id="1048779" name="TextBox 4"/>
          <p:cNvSpPr txBox="1"/>
          <p:nvPr/>
        </p:nvSpPr>
        <p:spPr>
          <a:xfrm>
            <a:off x="131705" y="228315"/>
            <a:ext cx="29204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 err="1">
                <a:solidFill>
                  <a:srgbClr val="C55A11"/>
                </a:solidFill>
                <a:latin typeface="Blackadder ITC" panose="04020505051007020D02" pitchFamily="82" charset="0"/>
              </a:rPr>
              <a:t>Out</a:t>
            </a:r>
            <a:r>
              <a:rPr lang="en-IN" sz="1200" b="1" dirty="0" err="1">
                <a:solidFill>
                  <a:srgbClr val="2F5597"/>
                </a:solidFill>
                <a:latin typeface="Arial Black" panose="020B0A04020102020204" pitchFamily="34" charset="0"/>
              </a:rPr>
              <a:t>Thinkers</a:t>
            </a:r>
            <a:endParaRPr lang="en-IN" sz="1200" b="1" dirty="0">
              <a:solidFill>
                <a:srgbClr val="2F5597"/>
              </a:solidFill>
              <a:latin typeface="Arial Black" panose="020B0A04020102020204" pitchFamily="34" charset="0"/>
            </a:endParaRPr>
          </a:p>
        </p:txBody>
      </p:sp>
      <p:sp>
        <p:nvSpPr>
          <p:cNvPr id="1048781" name="TextBox 3"/>
          <p:cNvSpPr txBox="1"/>
          <p:nvPr/>
        </p:nvSpPr>
        <p:spPr>
          <a:xfrm>
            <a:off x="149757" y="76185"/>
            <a:ext cx="6346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b="1" dirty="0">
                <a:solidFill>
                  <a:srgbClr val="2F5597"/>
                </a:solidFill>
                <a:latin typeface="Bookman Old Style" panose="02050604050505020204" pitchFamily="18" charset="0"/>
              </a:rPr>
              <a:t> The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58AFF1-FEBD-F3D7-30BC-4154A19D79EE}"/>
              </a:ext>
            </a:extLst>
          </p:cNvPr>
          <p:cNvSpPr/>
          <p:nvPr/>
        </p:nvSpPr>
        <p:spPr>
          <a:xfrm rot="16200000">
            <a:off x="3983067" y="-2819307"/>
            <a:ext cx="1622377" cy="9328752"/>
          </a:xfrm>
          <a:prstGeom prst="roundRect">
            <a:avLst/>
          </a:prstGeom>
          <a:solidFill>
            <a:schemeClr val="bg1">
              <a:lumMod val="85000"/>
              <a:alpha val="58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BA6A72-3F71-70CF-1192-BDDD1C876C5D}"/>
              </a:ext>
            </a:extLst>
          </p:cNvPr>
          <p:cNvSpPr/>
          <p:nvPr/>
        </p:nvSpPr>
        <p:spPr>
          <a:xfrm rot="16200000">
            <a:off x="3561769" y="-631979"/>
            <a:ext cx="2385489" cy="9328753"/>
          </a:xfrm>
          <a:prstGeom prst="roundRect">
            <a:avLst/>
          </a:prstGeom>
          <a:solidFill>
            <a:schemeClr val="accent3">
              <a:lumMod val="75000"/>
              <a:alpha val="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283182-9175-C4F1-FE34-B0D85FB8216D}"/>
              </a:ext>
            </a:extLst>
          </p:cNvPr>
          <p:cNvSpPr/>
          <p:nvPr/>
        </p:nvSpPr>
        <p:spPr>
          <a:xfrm rot="16200000">
            <a:off x="4114698" y="1422937"/>
            <a:ext cx="1359116" cy="9328754"/>
          </a:xfrm>
          <a:prstGeom prst="roundRect">
            <a:avLst/>
          </a:prstGeom>
          <a:solidFill>
            <a:schemeClr val="bg1">
              <a:lumMod val="85000"/>
              <a:alpha val="54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8FDBD1-F810-66A4-080C-FF1471E0EE86}"/>
              </a:ext>
            </a:extLst>
          </p:cNvPr>
          <p:cNvSpPr/>
          <p:nvPr/>
        </p:nvSpPr>
        <p:spPr>
          <a:xfrm>
            <a:off x="496915" y="1054699"/>
            <a:ext cx="3518342" cy="30662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91CE8-DCDE-A60D-6612-B17CAA1AA213}"/>
              </a:ext>
            </a:extLst>
          </p:cNvPr>
          <p:cNvSpPr txBox="1"/>
          <p:nvPr/>
        </p:nvSpPr>
        <p:spPr>
          <a:xfrm>
            <a:off x="799743" y="1010991"/>
            <a:ext cx="284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MULTI-SOURCE INPUT DATA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FC403C-D210-060D-D3E1-EE84AE3E7A6E}"/>
              </a:ext>
            </a:extLst>
          </p:cNvPr>
          <p:cNvSpPr/>
          <p:nvPr/>
        </p:nvSpPr>
        <p:spPr>
          <a:xfrm>
            <a:off x="496915" y="2850133"/>
            <a:ext cx="3739317" cy="36914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6EE3EC-2F63-1653-0D45-7CD12212F078}"/>
              </a:ext>
            </a:extLst>
          </p:cNvPr>
          <p:cNvSpPr txBox="1"/>
          <p:nvPr/>
        </p:nvSpPr>
        <p:spPr>
          <a:xfrm>
            <a:off x="496915" y="2868634"/>
            <a:ext cx="629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COUPLED FLOOD MODELLING ENGINE</a:t>
            </a:r>
            <a:endParaRPr lang="en-IN" sz="1800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1D3799-D3B2-74D1-E231-BE7284395EFD}"/>
              </a:ext>
            </a:extLst>
          </p:cNvPr>
          <p:cNvSpPr/>
          <p:nvPr/>
        </p:nvSpPr>
        <p:spPr>
          <a:xfrm>
            <a:off x="285264" y="5300116"/>
            <a:ext cx="3518342" cy="30662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B65B2E-12CF-AF70-CD51-58AEC9E6F334}"/>
              </a:ext>
            </a:extLst>
          </p:cNvPr>
          <p:cNvSpPr txBox="1"/>
          <p:nvPr/>
        </p:nvSpPr>
        <p:spPr>
          <a:xfrm>
            <a:off x="799743" y="5264112"/>
            <a:ext cx="629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ACTIONABLE OUTPUTS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5AFBDCA-A848-522F-052C-8E381964B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84" y="1427933"/>
            <a:ext cx="769712" cy="6248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159214-22AF-4A96-8CE1-2B795A15CF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514" y="1380798"/>
            <a:ext cx="879715" cy="66158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1F80F28-E52B-8BBD-909D-DC0B3DF94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675" y="1393718"/>
            <a:ext cx="873818" cy="62035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320D0D7-B806-4D6C-C51B-DCDE165156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967" y="1380930"/>
            <a:ext cx="873817" cy="65714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F262815-492B-B352-60CF-D4ECF9F201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258" y="1422815"/>
            <a:ext cx="784328" cy="629925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00653F0-8F95-2022-ED00-CFEBF0A076A4}"/>
              </a:ext>
            </a:extLst>
          </p:cNvPr>
          <p:cNvCxnSpPr>
            <a:cxnSpLocks/>
          </p:cNvCxnSpPr>
          <p:nvPr/>
        </p:nvCxnSpPr>
        <p:spPr>
          <a:xfrm>
            <a:off x="1877805" y="1450243"/>
            <a:ext cx="0" cy="10718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478346-9098-515E-E4DD-74891FCC31A5}"/>
              </a:ext>
            </a:extLst>
          </p:cNvPr>
          <p:cNvCxnSpPr>
            <a:cxnSpLocks/>
          </p:cNvCxnSpPr>
          <p:nvPr/>
        </p:nvCxnSpPr>
        <p:spPr>
          <a:xfrm>
            <a:off x="7557967" y="1437474"/>
            <a:ext cx="0" cy="1084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8590D92-BAE9-1FEE-FD53-51295831F11D}"/>
              </a:ext>
            </a:extLst>
          </p:cNvPr>
          <p:cNvCxnSpPr>
            <a:cxnSpLocks/>
          </p:cNvCxnSpPr>
          <p:nvPr/>
        </p:nvCxnSpPr>
        <p:spPr>
          <a:xfrm>
            <a:off x="5670551" y="1437474"/>
            <a:ext cx="0" cy="1084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8A4C986-5E17-1E04-DCC7-F97FAC353F23}"/>
              </a:ext>
            </a:extLst>
          </p:cNvPr>
          <p:cNvCxnSpPr>
            <a:cxnSpLocks/>
          </p:cNvCxnSpPr>
          <p:nvPr/>
        </p:nvCxnSpPr>
        <p:spPr>
          <a:xfrm>
            <a:off x="3685280" y="1450243"/>
            <a:ext cx="0" cy="10718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9331896-9012-9F8E-D484-F90CBF1982AB}"/>
              </a:ext>
            </a:extLst>
          </p:cNvPr>
          <p:cNvSpPr txBox="1"/>
          <p:nvPr/>
        </p:nvSpPr>
        <p:spPr>
          <a:xfrm>
            <a:off x="194675" y="1996852"/>
            <a:ext cx="21679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Rainfall &amp; Forecast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ED0FD30-5714-8D78-45AE-4967DDE17D68}"/>
              </a:ext>
            </a:extLst>
          </p:cNvPr>
          <p:cNvSpPr txBox="1"/>
          <p:nvPr/>
        </p:nvSpPr>
        <p:spPr>
          <a:xfrm>
            <a:off x="2171484" y="1999264"/>
            <a:ext cx="1675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DEM &amp; Terrain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01BD08-C357-203A-EC40-8F18D4116E98}"/>
              </a:ext>
            </a:extLst>
          </p:cNvPr>
          <p:cNvSpPr txBox="1"/>
          <p:nvPr/>
        </p:nvSpPr>
        <p:spPr>
          <a:xfrm>
            <a:off x="3808599" y="1996851"/>
            <a:ext cx="19167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Drainage Network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0B597C-6D18-E2C6-9308-E183465D53B3}"/>
              </a:ext>
            </a:extLst>
          </p:cNvPr>
          <p:cNvSpPr txBox="1"/>
          <p:nvPr/>
        </p:nvSpPr>
        <p:spPr>
          <a:xfrm>
            <a:off x="5791131" y="2009010"/>
            <a:ext cx="1796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Roads &amp; Land- use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5C83CB-223C-626D-53EA-AB4BFFDBB473}"/>
              </a:ext>
            </a:extLst>
          </p:cNvPr>
          <p:cNvSpPr txBox="1"/>
          <p:nvPr/>
        </p:nvSpPr>
        <p:spPr>
          <a:xfrm>
            <a:off x="7812110" y="2000759"/>
            <a:ext cx="13439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Citizen Reports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84C315-28A4-2D1D-E4CB-283BD7050C81}"/>
              </a:ext>
            </a:extLst>
          </p:cNvPr>
          <p:cNvSpPr txBox="1"/>
          <p:nvPr/>
        </p:nvSpPr>
        <p:spPr>
          <a:xfrm>
            <a:off x="90136" y="2248739"/>
            <a:ext cx="17876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(DWR / NWP / Weather APIs)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ECE3D8-87D9-4D5A-BC8C-34926BFA68E6}"/>
              </a:ext>
            </a:extLst>
          </p:cNvPr>
          <p:cNvSpPr txBox="1"/>
          <p:nvPr/>
        </p:nvSpPr>
        <p:spPr>
          <a:xfrm>
            <a:off x="1924656" y="2248317"/>
            <a:ext cx="186156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(Elevation/Slope/Flow Paths)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420884-52A8-8D32-FCDE-ACD108804952}"/>
              </a:ext>
            </a:extLst>
          </p:cNvPr>
          <p:cNvSpPr txBox="1"/>
          <p:nvPr/>
        </p:nvSpPr>
        <p:spPr>
          <a:xfrm>
            <a:off x="3644561" y="2255261"/>
            <a:ext cx="24090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(Inlets /Manholes /Pipes /Capacity)</a:t>
            </a:r>
          </a:p>
          <a:p>
            <a:pPr lvl="0"/>
            <a:endParaRPr lang="en-IN" sz="105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8B8ED6-7120-265C-4B0E-BEED61514AB6}"/>
              </a:ext>
            </a:extLst>
          </p:cNvPr>
          <p:cNvSpPr txBox="1"/>
          <p:nvPr/>
        </p:nvSpPr>
        <p:spPr>
          <a:xfrm>
            <a:off x="5799913" y="2253572"/>
            <a:ext cx="16286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dirty="0"/>
              <a:t>(</a:t>
            </a:r>
            <a:r>
              <a:rPr lang="en-IN" sz="1050" dirty="0">
                <a:solidFill>
                  <a:schemeClr val="accent1">
                    <a:lumMod val="50000"/>
                  </a:schemeClr>
                </a:solidFill>
              </a:rPr>
              <a:t>OSM /Urban GIS Layers)</a:t>
            </a:r>
          </a:p>
          <a:p>
            <a:pPr lvl="0"/>
            <a:endParaRPr lang="en-IN" sz="1050" dirty="0"/>
          </a:p>
        </p:txBody>
      </p:sp>
      <p:sp>
        <p:nvSpPr>
          <p:cNvPr id="1048769" name="TextBox 1048768">
            <a:extLst>
              <a:ext uri="{FF2B5EF4-FFF2-40B4-BE49-F238E27FC236}">
                <a16:creationId xmlns:a16="http://schemas.microsoft.com/office/drawing/2014/main" id="{0713C782-11DD-D548-1AA5-DC26B13985BE}"/>
              </a:ext>
            </a:extLst>
          </p:cNvPr>
          <p:cNvSpPr txBox="1"/>
          <p:nvPr/>
        </p:nvSpPr>
        <p:spPr>
          <a:xfrm>
            <a:off x="7731091" y="2254917"/>
            <a:ext cx="1853802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050" dirty="0"/>
              <a:t>(</a:t>
            </a:r>
            <a:r>
              <a:rPr lang="en-IN" sz="1050" dirty="0">
                <a:solidFill>
                  <a:schemeClr val="accent1">
                    <a:lumMod val="75000"/>
                  </a:schemeClr>
                </a:solidFill>
              </a:rPr>
              <a:t>Waterlogging Reports</a:t>
            </a:r>
            <a:r>
              <a:rPr lang="en-IN" sz="1050" dirty="0"/>
              <a:t>)</a:t>
            </a:r>
          </a:p>
          <a:p>
            <a:endParaRPr lang="en-IN" dirty="0"/>
          </a:p>
        </p:txBody>
      </p:sp>
      <p:pic>
        <p:nvPicPr>
          <p:cNvPr id="1048773" name="Picture 1048772">
            <a:extLst>
              <a:ext uri="{FF2B5EF4-FFF2-40B4-BE49-F238E27FC236}">
                <a16:creationId xmlns:a16="http://schemas.microsoft.com/office/drawing/2014/main" id="{3B90D0DC-461C-7B2F-F209-558BBF2415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6684" y="3355917"/>
            <a:ext cx="1014148" cy="656753"/>
          </a:xfrm>
          <a:prstGeom prst="rect">
            <a:avLst/>
          </a:prstGeom>
        </p:spPr>
      </p:pic>
      <p:pic>
        <p:nvPicPr>
          <p:cNvPr id="1048775" name="Picture 1048774">
            <a:extLst>
              <a:ext uri="{FF2B5EF4-FFF2-40B4-BE49-F238E27FC236}">
                <a16:creationId xmlns:a16="http://schemas.microsoft.com/office/drawing/2014/main" id="{076BE992-FDBB-9A00-3B63-CBDE754881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482" y="3389302"/>
            <a:ext cx="718118" cy="743227"/>
          </a:xfrm>
          <a:prstGeom prst="rect">
            <a:avLst/>
          </a:prstGeom>
        </p:spPr>
      </p:pic>
      <p:pic>
        <p:nvPicPr>
          <p:cNvPr id="1048777" name="Picture 1048776">
            <a:extLst>
              <a:ext uri="{FF2B5EF4-FFF2-40B4-BE49-F238E27FC236}">
                <a16:creationId xmlns:a16="http://schemas.microsoft.com/office/drawing/2014/main" id="{98AA1A47-C1BC-FC26-F3D7-4C43EA8B28D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37118" y="3382863"/>
            <a:ext cx="710690" cy="682376"/>
          </a:xfrm>
          <a:prstGeom prst="rect">
            <a:avLst/>
          </a:prstGeom>
        </p:spPr>
      </p:pic>
      <p:pic>
        <p:nvPicPr>
          <p:cNvPr id="1048780" name="Picture 1048779">
            <a:extLst>
              <a:ext uri="{FF2B5EF4-FFF2-40B4-BE49-F238E27FC236}">
                <a16:creationId xmlns:a16="http://schemas.microsoft.com/office/drawing/2014/main" id="{50A43D8B-C680-D555-402D-CFCD58811D1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4358" y="3419727"/>
            <a:ext cx="675212" cy="682376"/>
          </a:xfrm>
          <a:prstGeom prst="rect">
            <a:avLst/>
          </a:prstGeom>
        </p:spPr>
      </p:pic>
      <p:pic>
        <p:nvPicPr>
          <p:cNvPr id="1048783" name="Picture 1048782">
            <a:extLst>
              <a:ext uri="{FF2B5EF4-FFF2-40B4-BE49-F238E27FC236}">
                <a16:creationId xmlns:a16="http://schemas.microsoft.com/office/drawing/2014/main" id="{9E9D6ADA-E64F-43D0-E75F-C614A9F268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872" y="3464824"/>
            <a:ext cx="722559" cy="518454"/>
          </a:xfrm>
          <a:prstGeom prst="rect">
            <a:avLst/>
          </a:prstGeom>
        </p:spPr>
      </p:pic>
      <p:pic>
        <p:nvPicPr>
          <p:cNvPr id="1048785" name="Picture 1048784">
            <a:extLst>
              <a:ext uri="{FF2B5EF4-FFF2-40B4-BE49-F238E27FC236}">
                <a16:creationId xmlns:a16="http://schemas.microsoft.com/office/drawing/2014/main" id="{10FC2919-A7C7-7E2E-2019-8CF2F0FDA5F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1728" y="3399970"/>
            <a:ext cx="577614" cy="568645"/>
          </a:xfrm>
          <a:prstGeom prst="rect">
            <a:avLst/>
          </a:prstGeom>
        </p:spPr>
      </p:pic>
      <p:sp>
        <p:nvSpPr>
          <p:cNvPr id="1048787" name="Rectangle: Rounded Corners 1048786">
            <a:extLst>
              <a:ext uri="{FF2B5EF4-FFF2-40B4-BE49-F238E27FC236}">
                <a16:creationId xmlns:a16="http://schemas.microsoft.com/office/drawing/2014/main" id="{D528A736-9364-6BE6-5E00-31E382234D41}"/>
              </a:ext>
            </a:extLst>
          </p:cNvPr>
          <p:cNvSpPr/>
          <p:nvPr/>
        </p:nvSpPr>
        <p:spPr>
          <a:xfrm rot="16200000">
            <a:off x="315118" y="3307101"/>
            <a:ext cx="1242848" cy="130255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3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89" name="Rectangle: Rounded Corners 1048788">
            <a:extLst>
              <a:ext uri="{FF2B5EF4-FFF2-40B4-BE49-F238E27FC236}">
                <a16:creationId xmlns:a16="http://schemas.microsoft.com/office/drawing/2014/main" id="{DC64B564-1D1A-30B1-1E6A-C816002EF9AC}"/>
              </a:ext>
            </a:extLst>
          </p:cNvPr>
          <p:cNvSpPr/>
          <p:nvPr/>
        </p:nvSpPr>
        <p:spPr>
          <a:xfrm rot="16200000">
            <a:off x="1860772" y="3315903"/>
            <a:ext cx="1225245" cy="1302553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7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1" name="Rectangle: Rounded Corners 1048790">
            <a:extLst>
              <a:ext uri="{FF2B5EF4-FFF2-40B4-BE49-F238E27FC236}">
                <a16:creationId xmlns:a16="http://schemas.microsoft.com/office/drawing/2014/main" id="{7A2CA2C7-B1AD-B14E-AD6B-583400FAADF6}"/>
              </a:ext>
            </a:extLst>
          </p:cNvPr>
          <p:cNvSpPr/>
          <p:nvPr/>
        </p:nvSpPr>
        <p:spPr>
          <a:xfrm rot="16200000">
            <a:off x="6484666" y="3329682"/>
            <a:ext cx="1238971" cy="1302554"/>
          </a:xfrm>
          <a:prstGeom prst="roundRect">
            <a:avLst/>
          </a:prstGeom>
          <a:solidFill>
            <a:schemeClr val="accent1">
              <a:lumMod val="40000"/>
              <a:lumOff val="60000"/>
              <a:alpha val="49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3" name="Rectangle: Rounded Corners 1048792">
            <a:extLst>
              <a:ext uri="{FF2B5EF4-FFF2-40B4-BE49-F238E27FC236}">
                <a16:creationId xmlns:a16="http://schemas.microsoft.com/office/drawing/2014/main" id="{19F1F55E-07F3-DC06-3AFD-163F08BB7564}"/>
              </a:ext>
            </a:extLst>
          </p:cNvPr>
          <p:cNvSpPr/>
          <p:nvPr/>
        </p:nvSpPr>
        <p:spPr>
          <a:xfrm rot="16200000">
            <a:off x="3412076" y="3336544"/>
            <a:ext cx="1225244" cy="130255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5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5" name="Rectangle: Rounded Corners 1048794">
            <a:extLst>
              <a:ext uri="{FF2B5EF4-FFF2-40B4-BE49-F238E27FC236}">
                <a16:creationId xmlns:a16="http://schemas.microsoft.com/office/drawing/2014/main" id="{D8A16935-01A0-2F38-AED8-7BE107850BFB}"/>
              </a:ext>
            </a:extLst>
          </p:cNvPr>
          <p:cNvSpPr/>
          <p:nvPr/>
        </p:nvSpPr>
        <p:spPr>
          <a:xfrm rot="16200000">
            <a:off x="4927616" y="3329681"/>
            <a:ext cx="1238970" cy="1302555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9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7" name="Rectangle: Rounded Corners 1048796">
            <a:extLst>
              <a:ext uri="{FF2B5EF4-FFF2-40B4-BE49-F238E27FC236}">
                <a16:creationId xmlns:a16="http://schemas.microsoft.com/office/drawing/2014/main" id="{38FE7A97-2865-100B-BF2F-94314930F12B}"/>
              </a:ext>
            </a:extLst>
          </p:cNvPr>
          <p:cNvSpPr/>
          <p:nvPr/>
        </p:nvSpPr>
        <p:spPr>
          <a:xfrm rot="16200000">
            <a:off x="7981726" y="3320359"/>
            <a:ext cx="1257617" cy="1302554"/>
          </a:xfrm>
          <a:prstGeom prst="roundRect">
            <a:avLst/>
          </a:prstGeom>
          <a:solidFill>
            <a:schemeClr val="accent1">
              <a:lumMod val="60000"/>
              <a:lumOff val="40000"/>
              <a:alpha val="29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1048799" name="TextBox 1048798">
            <a:extLst>
              <a:ext uri="{FF2B5EF4-FFF2-40B4-BE49-F238E27FC236}">
                <a16:creationId xmlns:a16="http://schemas.microsoft.com/office/drawing/2014/main" id="{3F5ED2B9-D46A-BFD0-0CDC-D5ABB1012938}"/>
              </a:ext>
            </a:extLst>
          </p:cNvPr>
          <p:cNvSpPr txBox="1"/>
          <p:nvPr/>
        </p:nvSpPr>
        <p:spPr>
          <a:xfrm>
            <a:off x="479034" y="4118137"/>
            <a:ext cx="108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  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Rainfall Processing</a:t>
            </a:r>
          </a:p>
        </p:txBody>
      </p:sp>
      <p:sp>
        <p:nvSpPr>
          <p:cNvPr id="1048801" name="TextBox 1048800">
            <a:extLst>
              <a:ext uri="{FF2B5EF4-FFF2-40B4-BE49-F238E27FC236}">
                <a16:creationId xmlns:a16="http://schemas.microsoft.com/office/drawing/2014/main" id="{42630DC0-3AC0-922E-8815-D803AB780B88}"/>
              </a:ext>
            </a:extLst>
          </p:cNvPr>
          <p:cNvSpPr txBox="1"/>
          <p:nvPr/>
        </p:nvSpPr>
        <p:spPr>
          <a:xfrm rot="10800000" flipV="1">
            <a:off x="1998391" y="4080591"/>
            <a:ext cx="1091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   Runoff Generation</a:t>
            </a:r>
          </a:p>
        </p:txBody>
      </p:sp>
      <p:sp>
        <p:nvSpPr>
          <p:cNvPr id="1048803" name="TextBox 1048802">
            <a:extLst>
              <a:ext uri="{FF2B5EF4-FFF2-40B4-BE49-F238E27FC236}">
                <a16:creationId xmlns:a16="http://schemas.microsoft.com/office/drawing/2014/main" id="{7C413D09-31E4-DF66-8B3A-88C56AD211C5}"/>
              </a:ext>
            </a:extLst>
          </p:cNvPr>
          <p:cNvSpPr txBox="1"/>
          <p:nvPr/>
        </p:nvSpPr>
        <p:spPr>
          <a:xfrm>
            <a:off x="3608674" y="4091110"/>
            <a:ext cx="867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2D Surface   Routing</a:t>
            </a:r>
          </a:p>
        </p:txBody>
      </p:sp>
      <p:sp>
        <p:nvSpPr>
          <p:cNvPr id="1048805" name="TextBox 1048804">
            <a:extLst>
              <a:ext uri="{FF2B5EF4-FFF2-40B4-BE49-F238E27FC236}">
                <a16:creationId xmlns:a16="http://schemas.microsoft.com/office/drawing/2014/main" id="{1C139962-05B7-57A6-4825-F2759C1698F1}"/>
              </a:ext>
            </a:extLst>
          </p:cNvPr>
          <p:cNvSpPr txBox="1"/>
          <p:nvPr/>
        </p:nvSpPr>
        <p:spPr>
          <a:xfrm rot="10800000" flipV="1">
            <a:off x="5109792" y="4118136"/>
            <a:ext cx="10885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</a:t>
            </a:r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Drainage Hydraulics</a:t>
            </a:r>
          </a:p>
        </p:txBody>
      </p:sp>
      <p:sp>
        <p:nvSpPr>
          <p:cNvPr id="1048807" name="TextBox 1048806">
            <a:extLst>
              <a:ext uri="{FF2B5EF4-FFF2-40B4-BE49-F238E27FC236}">
                <a16:creationId xmlns:a16="http://schemas.microsoft.com/office/drawing/2014/main" id="{BA5C4A94-CB24-9480-D838-01F6DC70C3E2}"/>
              </a:ext>
            </a:extLst>
          </p:cNvPr>
          <p:cNvSpPr txBox="1"/>
          <p:nvPr/>
        </p:nvSpPr>
        <p:spPr>
          <a:xfrm>
            <a:off x="6562822" y="4094117"/>
            <a:ext cx="1200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Surface–Drain Coupling</a:t>
            </a:r>
          </a:p>
        </p:txBody>
      </p:sp>
      <p:sp>
        <p:nvSpPr>
          <p:cNvPr id="1048809" name="TextBox 1048808">
            <a:extLst>
              <a:ext uri="{FF2B5EF4-FFF2-40B4-BE49-F238E27FC236}">
                <a16:creationId xmlns:a16="http://schemas.microsoft.com/office/drawing/2014/main" id="{40C3A5B1-8955-969E-47D5-76840AEBBCA5}"/>
              </a:ext>
            </a:extLst>
          </p:cNvPr>
          <p:cNvSpPr txBox="1"/>
          <p:nvPr/>
        </p:nvSpPr>
        <p:spPr>
          <a:xfrm rot="10800000" flipV="1">
            <a:off x="8159128" y="4120513"/>
            <a:ext cx="9305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1">
                    <a:lumMod val="50000"/>
                  </a:schemeClr>
                </a:solidFill>
              </a:rPr>
              <a:t>  0–3 Hour Nowcasting</a:t>
            </a:r>
          </a:p>
        </p:txBody>
      </p:sp>
      <p:sp>
        <p:nvSpPr>
          <p:cNvPr id="1048811" name="Rectangle: Rounded Corners 1048810">
            <a:extLst>
              <a:ext uri="{FF2B5EF4-FFF2-40B4-BE49-F238E27FC236}">
                <a16:creationId xmlns:a16="http://schemas.microsoft.com/office/drawing/2014/main" id="{9045344E-DC5F-6A9A-1932-250981A6D000}"/>
              </a:ext>
            </a:extLst>
          </p:cNvPr>
          <p:cNvSpPr/>
          <p:nvPr/>
        </p:nvSpPr>
        <p:spPr>
          <a:xfrm rot="16200000">
            <a:off x="4609589" y="477123"/>
            <a:ext cx="369333" cy="8873962"/>
          </a:xfrm>
          <a:prstGeom prst="roundRect">
            <a:avLst/>
          </a:prstGeom>
          <a:solidFill>
            <a:schemeClr val="accent3">
              <a:lumMod val="75000"/>
              <a:alpha val="14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48813" name="TextBox 1048812">
            <a:extLst>
              <a:ext uri="{FF2B5EF4-FFF2-40B4-BE49-F238E27FC236}">
                <a16:creationId xmlns:a16="http://schemas.microsoft.com/office/drawing/2014/main" id="{42A4DE30-022F-D44B-EAA3-551484B12BC7}"/>
              </a:ext>
            </a:extLst>
          </p:cNvPr>
          <p:cNvSpPr txBox="1"/>
          <p:nvPr/>
        </p:nvSpPr>
        <p:spPr>
          <a:xfrm>
            <a:off x="1037905" y="4769327"/>
            <a:ext cx="831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Rainfall  →  Runoff  →  Drainage Capacity  →  Excess Water  →  Routing Depth  →  Flood Risk</a:t>
            </a:r>
          </a:p>
        </p:txBody>
      </p:sp>
      <p:pic>
        <p:nvPicPr>
          <p:cNvPr id="1048815" name="Picture 1048814">
            <a:extLst>
              <a:ext uri="{FF2B5EF4-FFF2-40B4-BE49-F238E27FC236}">
                <a16:creationId xmlns:a16="http://schemas.microsoft.com/office/drawing/2014/main" id="{B8F74D8F-20FE-83B5-57CE-FF4E3D2A8E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10" y="5642748"/>
            <a:ext cx="859191" cy="649527"/>
          </a:xfrm>
          <a:prstGeom prst="rect">
            <a:avLst/>
          </a:prstGeom>
        </p:spPr>
      </p:pic>
      <p:pic>
        <p:nvPicPr>
          <p:cNvPr id="1048817" name="Picture 1048816">
            <a:extLst>
              <a:ext uri="{FF2B5EF4-FFF2-40B4-BE49-F238E27FC236}">
                <a16:creationId xmlns:a16="http://schemas.microsoft.com/office/drawing/2014/main" id="{614B1D4F-C55C-E109-ED8C-8B6173CB7C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314" y="5669448"/>
            <a:ext cx="859191" cy="616413"/>
          </a:xfrm>
          <a:prstGeom prst="rect">
            <a:avLst/>
          </a:prstGeom>
        </p:spPr>
      </p:pic>
      <p:pic>
        <p:nvPicPr>
          <p:cNvPr id="1048819" name="Picture 1048818">
            <a:extLst>
              <a:ext uri="{FF2B5EF4-FFF2-40B4-BE49-F238E27FC236}">
                <a16:creationId xmlns:a16="http://schemas.microsoft.com/office/drawing/2014/main" id="{54838F4C-99E9-7010-9CC4-1DDABDBD299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232" y="5679391"/>
            <a:ext cx="886657" cy="551265"/>
          </a:xfrm>
          <a:prstGeom prst="rect">
            <a:avLst/>
          </a:prstGeom>
        </p:spPr>
      </p:pic>
      <p:pic>
        <p:nvPicPr>
          <p:cNvPr id="1048821" name="Picture 1048820">
            <a:extLst>
              <a:ext uri="{FF2B5EF4-FFF2-40B4-BE49-F238E27FC236}">
                <a16:creationId xmlns:a16="http://schemas.microsoft.com/office/drawing/2014/main" id="{396629D7-225A-A9B7-63C8-45CA3DE1461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556" y="5673264"/>
            <a:ext cx="940865" cy="617082"/>
          </a:xfrm>
          <a:prstGeom prst="rect">
            <a:avLst/>
          </a:prstGeom>
        </p:spPr>
      </p:pic>
      <p:pic>
        <p:nvPicPr>
          <p:cNvPr id="1048823" name="Picture 1048822">
            <a:extLst>
              <a:ext uri="{FF2B5EF4-FFF2-40B4-BE49-F238E27FC236}">
                <a16:creationId xmlns:a16="http://schemas.microsoft.com/office/drawing/2014/main" id="{DA1221A6-4F4E-FC7F-F512-00DFE7B35CB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4672" y="5633444"/>
            <a:ext cx="940866" cy="590209"/>
          </a:xfrm>
          <a:prstGeom prst="rect">
            <a:avLst/>
          </a:prstGeom>
        </p:spPr>
      </p:pic>
      <p:cxnSp>
        <p:nvCxnSpPr>
          <p:cNvPr id="1048824" name="Straight Connector 1048823">
            <a:extLst>
              <a:ext uri="{FF2B5EF4-FFF2-40B4-BE49-F238E27FC236}">
                <a16:creationId xmlns:a16="http://schemas.microsoft.com/office/drawing/2014/main" id="{BA223BA6-5A1B-F54F-8D5F-6CBD850B336B}"/>
              </a:ext>
            </a:extLst>
          </p:cNvPr>
          <p:cNvCxnSpPr>
            <a:cxnSpLocks/>
          </p:cNvCxnSpPr>
          <p:nvPr/>
        </p:nvCxnSpPr>
        <p:spPr>
          <a:xfrm>
            <a:off x="1822118" y="5657826"/>
            <a:ext cx="0" cy="9581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825" name="Straight Connector 1048824">
            <a:extLst>
              <a:ext uri="{FF2B5EF4-FFF2-40B4-BE49-F238E27FC236}">
                <a16:creationId xmlns:a16="http://schemas.microsoft.com/office/drawing/2014/main" id="{19598EC1-15AC-0E23-E49A-E2B02310E37B}"/>
              </a:ext>
            </a:extLst>
          </p:cNvPr>
          <p:cNvCxnSpPr>
            <a:cxnSpLocks/>
          </p:cNvCxnSpPr>
          <p:nvPr/>
        </p:nvCxnSpPr>
        <p:spPr>
          <a:xfrm>
            <a:off x="3685280" y="5648892"/>
            <a:ext cx="0" cy="9670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826" name="Straight Connector 1048825">
            <a:extLst>
              <a:ext uri="{FF2B5EF4-FFF2-40B4-BE49-F238E27FC236}">
                <a16:creationId xmlns:a16="http://schemas.microsoft.com/office/drawing/2014/main" id="{8A41A43C-851E-F871-D7CF-64D3F11B02BE}"/>
              </a:ext>
            </a:extLst>
          </p:cNvPr>
          <p:cNvCxnSpPr>
            <a:cxnSpLocks/>
          </p:cNvCxnSpPr>
          <p:nvPr/>
        </p:nvCxnSpPr>
        <p:spPr>
          <a:xfrm>
            <a:off x="5650666" y="5657826"/>
            <a:ext cx="0" cy="9436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8827" name="Straight Connector 1048826">
            <a:extLst>
              <a:ext uri="{FF2B5EF4-FFF2-40B4-BE49-F238E27FC236}">
                <a16:creationId xmlns:a16="http://schemas.microsoft.com/office/drawing/2014/main" id="{E8CB483B-24F3-2B49-F95E-068521477CB1}"/>
              </a:ext>
            </a:extLst>
          </p:cNvPr>
          <p:cNvCxnSpPr>
            <a:cxnSpLocks/>
          </p:cNvCxnSpPr>
          <p:nvPr/>
        </p:nvCxnSpPr>
        <p:spPr>
          <a:xfrm>
            <a:off x="7591959" y="5657826"/>
            <a:ext cx="0" cy="9670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97153" name="TextBox 2097152">
            <a:extLst>
              <a:ext uri="{FF2B5EF4-FFF2-40B4-BE49-F238E27FC236}">
                <a16:creationId xmlns:a16="http://schemas.microsoft.com/office/drawing/2014/main" id="{64216516-361A-0246-3894-3E2705C0207C}"/>
              </a:ext>
            </a:extLst>
          </p:cNvPr>
          <p:cNvSpPr txBox="1"/>
          <p:nvPr/>
        </p:nvSpPr>
        <p:spPr>
          <a:xfrm>
            <a:off x="324614" y="6342051"/>
            <a:ext cx="14864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Water depth (cm)</a:t>
            </a:r>
          </a:p>
        </p:txBody>
      </p:sp>
      <p:sp>
        <p:nvSpPr>
          <p:cNvPr id="2097155" name="TextBox 2097154">
            <a:extLst>
              <a:ext uri="{FF2B5EF4-FFF2-40B4-BE49-F238E27FC236}">
                <a16:creationId xmlns:a16="http://schemas.microsoft.com/office/drawing/2014/main" id="{35F9664C-75F1-DE87-50D5-6373F84396CD}"/>
              </a:ext>
            </a:extLst>
          </p:cNvPr>
          <p:cNvSpPr txBox="1"/>
          <p:nvPr/>
        </p:nvSpPr>
        <p:spPr>
          <a:xfrm>
            <a:off x="2174513" y="6345580"/>
            <a:ext cx="28683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Flooded street</a:t>
            </a:r>
          </a:p>
        </p:txBody>
      </p:sp>
      <p:sp>
        <p:nvSpPr>
          <p:cNvPr id="2097157" name="TextBox 2097156">
            <a:extLst>
              <a:ext uri="{FF2B5EF4-FFF2-40B4-BE49-F238E27FC236}">
                <a16:creationId xmlns:a16="http://schemas.microsoft.com/office/drawing/2014/main" id="{3D86B2BD-575F-C599-3E03-AD0DCA4E2E5F}"/>
              </a:ext>
            </a:extLst>
          </p:cNvPr>
          <p:cNvSpPr txBox="1"/>
          <p:nvPr/>
        </p:nvSpPr>
        <p:spPr>
          <a:xfrm>
            <a:off x="3703913" y="6337223"/>
            <a:ext cx="629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Critical Drainage nodes</a:t>
            </a:r>
          </a:p>
        </p:txBody>
      </p:sp>
      <p:sp>
        <p:nvSpPr>
          <p:cNvPr id="2097159" name="TextBox 2097158">
            <a:extLst>
              <a:ext uri="{FF2B5EF4-FFF2-40B4-BE49-F238E27FC236}">
                <a16:creationId xmlns:a16="http://schemas.microsoft.com/office/drawing/2014/main" id="{156A8F63-1CEB-E697-F071-401EAC777174}"/>
              </a:ext>
            </a:extLst>
          </p:cNvPr>
          <p:cNvSpPr txBox="1"/>
          <p:nvPr/>
        </p:nvSpPr>
        <p:spPr>
          <a:xfrm>
            <a:off x="6053653" y="6342050"/>
            <a:ext cx="629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 0-3h Forecast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97161" name="TextBox 2097160">
            <a:extLst>
              <a:ext uri="{FF2B5EF4-FFF2-40B4-BE49-F238E27FC236}">
                <a16:creationId xmlns:a16="http://schemas.microsoft.com/office/drawing/2014/main" id="{2FA73FAF-5F49-DB42-74D5-471AC316F49D}"/>
              </a:ext>
            </a:extLst>
          </p:cNvPr>
          <p:cNvSpPr txBox="1"/>
          <p:nvPr/>
        </p:nvSpPr>
        <p:spPr>
          <a:xfrm>
            <a:off x="7616052" y="6328866"/>
            <a:ext cx="629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Flood –aware Routing</a:t>
            </a:r>
          </a:p>
        </p:txBody>
      </p:sp>
      <p:sp useBgFill="1">
        <p:nvSpPr>
          <p:cNvPr id="2097162" name="Rectangle: Rounded Corners 2097161">
            <a:extLst>
              <a:ext uri="{FF2B5EF4-FFF2-40B4-BE49-F238E27FC236}">
                <a16:creationId xmlns:a16="http://schemas.microsoft.com/office/drawing/2014/main" id="{3B153FCE-6F25-A941-9831-92FFB4AB597D}"/>
              </a:ext>
            </a:extLst>
          </p:cNvPr>
          <p:cNvSpPr/>
          <p:nvPr/>
        </p:nvSpPr>
        <p:spPr>
          <a:xfrm>
            <a:off x="9589727" y="1158750"/>
            <a:ext cx="2368194" cy="5658141"/>
          </a:xfrm>
          <a:prstGeom prst="roundRect">
            <a:avLst>
              <a:gd name="adj" fmla="val 6059"/>
            </a:avLst>
          </a:prstGeom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66" name="Rectangle: Rounded Corners 2097165">
            <a:extLst>
              <a:ext uri="{FF2B5EF4-FFF2-40B4-BE49-F238E27FC236}">
                <a16:creationId xmlns:a16="http://schemas.microsoft.com/office/drawing/2014/main" id="{F8339260-B55E-E329-1253-7404F8CD488D}"/>
              </a:ext>
            </a:extLst>
          </p:cNvPr>
          <p:cNvSpPr/>
          <p:nvPr/>
        </p:nvSpPr>
        <p:spPr>
          <a:xfrm>
            <a:off x="9571369" y="1108730"/>
            <a:ext cx="2395990" cy="359838"/>
          </a:xfrm>
          <a:prstGeom prst="roundRect">
            <a:avLst>
              <a:gd name="adj" fmla="val 25510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97168" name="TextBox 2097167">
            <a:extLst>
              <a:ext uri="{FF2B5EF4-FFF2-40B4-BE49-F238E27FC236}">
                <a16:creationId xmlns:a16="http://schemas.microsoft.com/office/drawing/2014/main" id="{A88BF470-D010-4EF6-24C7-C425A677E159}"/>
              </a:ext>
            </a:extLst>
          </p:cNvPr>
          <p:cNvSpPr txBox="1"/>
          <p:nvPr/>
        </p:nvSpPr>
        <p:spPr>
          <a:xfrm>
            <a:off x="9773971" y="1099236"/>
            <a:ext cx="6953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Technology Stack</a:t>
            </a:r>
            <a:endParaRPr lang="en-IN" sz="1800" b="1" dirty="0"/>
          </a:p>
        </p:txBody>
      </p:sp>
      <p:sp>
        <p:nvSpPr>
          <p:cNvPr id="2097169" name="Rectangle: Rounded Corners 2097168">
            <a:extLst>
              <a:ext uri="{FF2B5EF4-FFF2-40B4-BE49-F238E27FC236}">
                <a16:creationId xmlns:a16="http://schemas.microsoft.com/office/drawing/2014/main" id="{A2F65A84-C519-F947-793D-3046DBECC580}"/>
              </a:ext>
            </a:extLst>
          </p:cNvPr>
          <p:cNvSpPr/>
          <p:nvPr/>
        </p:nvSpPr>
        <p:spPr>
          <a:xfrm>
            <a:off x="9712775" y="1617785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1" name="Rectangle: Rounded Corners 2097170">
            <a:extLst>
              <a:ext uri="{FF2B5EF4-FFF2-40B4-BE49-F238E27FC236}">
                <a16:creationId xmlns:a16="http://schemas.microsoft.com/office/drawing/2014/main" id="{1F213245-7B62-485D-6A03-CE2C3C070E4C}"/>
              </a:ext>
            </a:extLst>
          </p:cNvPr>
          <p:cNvSpPr/>
          <p:nvPr/>
        </p:nvSpPr>
        <p:spPr>
          <a:xfrm>
            <a:off x="9712775" y="2463447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3" name="Rectangle: Rounded Corners 2097172">
            <a:extLst>
              <a:ext uri="{FF2B5EF4-FFF2-40B4-BE49-F238E27FC236}">
                <a16:creationId xmlns:a16="http://schemas.microsoft.com/office/drawing/2014/main" id="{63A41F2B-8F18-94AC-FD06-B89DE4686A5A}"/>
              </a:ext>
            </a:extLst>
          </p:cNvPr>
          <p:cNvSpPr/>
          <p:nvPr/>
        </p:nvSpPr>
        <p:spPr>
          <a:xfrm>
            <a:off x="9712775" y="3368245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5" name="Rectangle: Rounded Corners 2097174">
            <a:extLst>
              <a:ext uri="{FF2B5EF4-FFF2-40B4-BE49-F238E27FC236}">
                <a16:creationId xmlns:a16="http://schemas.microsoft.com/office/drawing/2014/main" id="{1F3E7F03-FFEA-56C8-993D-D6DA47A95A21}"/>
              </a:ext>
            </a:extLst>
          </p:cNvPr>
          <p:cNvSpPr/>
          <p:nvPr/>
        </p:nvSpPr>
        <p:spPr>
          <a:xfrm>
            <a:off x="9734153" y="4188524"/>
            <a:ext cx="2117264" cy="73866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7" name="Rectangle: Rounded Corners 2097176">
            <a:extLst>
              <a:ext uri="{FF2B5EF4-FFF2-40B4-BE49-F238E27FC236}">
                <a16:creationId xmlns:a16="http://schemas.microsoft.com/office/drawing/2014/main" id="{963FA3DD-99DE-D72C-DDAB-AB4A727F6FF1}"/>
              </a:ext>
            </a:extLst>
          </p:cNvPr>
          <p:cNvSpPr/>
          <p:nvPr/>
        </p:nvSpPr>
        <p:spPr>
          <a:xfrm>
            <a:off x="9712775" y="5076404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79" name="Rectangle: Rounded Corners 2097178">
            <a:extLst>
              <a:ext uri="{FF2B5EF4-FFF2-40B4-BE49-F238E27FC236}">
                <a16:creationId xmlns:a16="http://schemas.microsoft.com/office/drawing/2014/main" id="{C2DA4FF8-0E83-DC5D-EEF0-DA551416C4DE}"/>
              </a:ext>
            </a:extLst>
          </p:cNvPr>
          <p:cNvSpPr/>
          <p:nvPr/>
        </p:nvSpPr>
        <p:spPr>
          <a:xfrm>
            <a:off x="9712775" y="5938072"/>
            <a:ext cx="2117264" cy="686843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97181" name="TextBox 2097180">
            <a:extLst>
              <a:ext uri="{FF2B5EF4-FFF2-40B4-BE49-F238E27FC236}">
                <a16:creationId xmlns:a16="http://schemas.microsoft.com/office/drawing/2014/main" id="{A86826CC-BB4B-7E4C-0024-06CC8E73DDB2}"/>
              </a:ext>
            </a:extLst>
          </p:cNvPr>
          <p:cNvSpPr txBox="1"/>
          <p:nvPr/>
        </p:nvSpPr>
        <p:spPr>
          <a:xfrm>
            <a:off x="10195316" y="1649496"/>
            <a:ext cx="836525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Frontend</a:t>
            </a:r>
          </a:p>
          <a:p>
            <a:pPr lvl="0"/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HTML / CSS  / JavaScript</a:t>
            </a:r>
          </a:p>
        </p:txBody>
      </p:sp>
      <p:sp>
        <p:nvSpPr>
          <p:cNvPr id="2097183" name="TextBox 2097182">
            <a:extLst>
              <a:ext uri="{FF2B5EF4-FFF2-40B4-BE49-F238E27FC236}">
                <a16:creationId xmlns:a16="http://schemas.microsoft.com/office/drawing/2014/main" id="{229D16F2-6D92-D030-879D-1B51877621F3}"/>
              </a:ext>
            </a:extLst>
          </p:cNvPr>
          <p:cNvSpPr txBox="1"/>
          <p:nvPr/>
        </p:nvSpPr>
        <p:spPr>
          <a:xfrm>
            <a:off x="10197400" y="2563849"/>
            <a:ext cx="92645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Web GIS</a:t>
            </a:r>
          </a:p>
          <a:p>
            <a:pPr lvl="0"/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Leaflet /</a:t>
            </a:r>
            <a:r>
              <a:rPr lang="en-IN" sz="1200" dirty="0" err="1">
                <a:solidFill>
                  <a:schemeClr val="accent1">
                    <a:lumMod val="50000"/>
                  </a:schemeClr>
                </a:solidFill>
              </a:rPr>
              <a:t>GeoJSON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  /OSM</a:t>
            </a:r>
          </a:p>
        </p:txBody>
      </p:sp>
      <p:sp>
        <p:nvSpPr>
          <p:cNvPr id="2097185" name="TextBox 2097184">
            <a:extLst>
              <a:ext uri="{FF2B5EF4-FFF2-40B4-BE49-F238E27FC236}">
                <a16:creationId xmlns:a16="http://schemas.microsoft.com/office/drawing/2014/main" id="{BD9C41A5-EE6D-8AA2-9D39-C36492568013}"/>
              </a:ext>
            </a:extLst>
          </p:cNvPr>
          <p:cNvSpPr txBox="1"/>
          <p:nvPr/>
        </p:nvSpPr>
        <p:spPr>
          <a:xfrm>
            <a:off x="10195316" y="3433510"/>
            <a:ext cx="971173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Backend APIs</a:t>
            </a:r>
          </a:p>
          <a:p>
            <a:pPr lvl="0"/>
            <a:r>
              <a:rPr lang="en-IN" sz="1200" dirty="0" err="1">
                <a:solidFill>
                  <a:schemeClr val="accent1">
                    <a:lumMod val="50000"/>
                  </a:schemeClr>
                </a:solidFill>
              </a:rPr>
              <a:t>FastAPI</a:t>
            </a:r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 /Python</a:t>
            </a:r>
          </a:p>
        </p:txBody>
      </p:sp>
      <p:sp>
        <p:nvSpPr>
          <p:cNvPr id="2097187" name="TextBox 2097186">
            <a:extLst>
              <a:ext uri="{FF2B5EF4-FFF2-40B4-BE49-F238E27FC236}">
                <a16:creationId xmlns:a16="http://schemas.microsoft.com/office/drawing/2014/main" id="{641C07D2-79A0-E601-3FC7-A5409CF9E056}"/>
              </a:ext>
            </a:extLst>
          </p:cNvPr>
          <p:cNvSpPr txBox="1"/>
          <p:nvPr/>
        </p:nvSpPr>
        <p:spPr>
          <a:xfrm>
            <a:off x="10184666" y="4196414"/>
            <a:ext cx="193885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Modelling</a:t>
            </a:r>
          </a:p>
          <a:p>
            <a:pPr lvl="0"/>
            <a:r>
              <a:rPr lang="en-IN" sz="1400" dirty="0">
                <a:solidFill>
                  <a:schemeClr val="accent1">
                    <a:lumMod val="50000"/>
                  </a:schemeClr>
                </a:solidFill>
              </a:rPr>
              <a:t>NumPy /</a:t>
            </a:r>
            <a:r>
              <a:rPr lang="en-IN" sz="1400" dirty="0" err="1">
                <a:solidFill>
                  <a:schemeClr val="accent1">
                    <a:lumMod val="50000"/>
                  </a:schemeClr>
                </a:solidFill>
              </a:rPr>
              <a:t>Rasterio</a:t>
            </a:r>
            <a:r>
              <a:rPr lang="en-IN" sz="1400" dirty="0">
                <a:solidFill>
                  <a:schemeClr val="accent1">
                    <a:lumMod val="50000"/>
                  </a:schemeClr>
                </a:solidFill>
              </a:rPr>
              <a:t> / </a:t>
            </a:r>
            <a:r>
              <a:rPr lang="en-IN" sz="1400" dirty="0" err="1">
                <a:solidFill>
                  <a:schemeClr val="accent1">
                    <a:lumMod val="50000"/>
                  </a:schemeClr>
                </a:solidFill>
              </a:rPr>
              <a:t>GeoPandas</a:t>
            </a:r>
            <a:endParaRPr lang="en-IN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97189" name="TextBox 2097188">
            <a:extLst>
              <a:ext uri="{FF2B5EF4-FFF2-40B4-BE49-F238E27FC236}">
                <a16:creationId xmlns:a16="http://schemas.microsoft.com/office/drawing/2014/main" id="{70FA54E1-E7BD-6D75-8FAB-FD36FCA69953}"/>
              </a:ext>
            </a:extLst>
          </p:cNvPr>
          <p:cNvSpPr txBox="1"/>
          <p:nvPr/>
        </p:nvSpPr>
        <p:spPr>
          <a:xfrm>
            <a:off x="10195316" y="5141001"/>
            <a:ext cx="99528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Database</a:t>
            </a:r>
          </a:p>
          <a:p>
            <a:pPr lvl="0"/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PostgreSQL /</a:t>
            </a:r>
            <a:r>
              <a:rPr lang="en-IN" sz="1200" dirty="0" err="1">
                <a:solidFill>
                  <a:schemeClr val="accent1">
                    <a:lumMod val="50000"/>
                  </a:schemeClr>
                </a:solidFill>
              </a:rPr>
              <a:t>PostGIS</a:t>
            </a:r>
            <a:endParaRPr lang="en-IN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97191" name="TextBox 2097190">
            <a:extLst>
              <a:ext uri="{FF2B5EF4-FFF2-40B4-BE49-F238E27FC236}">
                <a16:creationId xmlns:a16="http://schemas.microsoft.com/office/drawing/2014/main" id="{BC76BD20-793A-61E2-974D-070A031A583D}"/>
              </a:ext>
            </a:extLst>
          </p:cNvPr>
          <p:cNvSpPr txBox="1"/>
          <p:nvPr/>
        </p:nvSpPr>
        <p:spPr>
          <a:xfrm>
            <a:off x="10195316" y="6016326"/>
            <a:ext cx="1009356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>
                <a:solidFill>
                  <a:schemeClr val="accent1">
                    <a:lumMod val="50000"/>
                  </a:schemeClr>
                </a:solidFill>
              </a:rPr>
              <a:t>Deployment</a:t>
            </a:r>
          </a:p>
          <a:p>
            <a:pPr lvl="0"/>
            <a:r>
              <a:rPr lang="en-IN" sz="1200" dirty="0">
                <a:solidFill>
                  <a:schemeClr val="accent1">
                    <a:lumMod val="50000"/>
                  </a:schemeClr>
                </a:solidFill>
              </a:rPr>
              <a:t>Render</a:t>
            </a:r>
          </a:p>
        </p:txBody>
      </p:sp>
      <p:pic>
        <p:nvPicPr>
          <p:cNvPr id="2097193" name="Picture 2097192">
            <a:extLst>
              <a:ext uri="{FF2B5EF4-FFF2-40B4-BE49-F238E27FC236}">
                <a16:creationId xmlns:a16="http://schemas.microsoft.com/office/drawing/2014/main" id="{CF1B4F9D-D631-CF46-0D3C-B40321F05DB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895" y="5154660"/>
            <a:ext cx="452709" cy="524731"/>
          </a:xfrm>
          <a:prstGeom prst="rect">
            <a:avLst/>
          </a:prstGeom>
        </p:spPr>
      </p:pic>
      <p:pic>
        <p:nvPicPr>
          <p:cNvPr id="2097195" name="Picture 2097194">
            <a:extLst>
              <a:ext uri="{FF2B5EF4-FFF2-40B4-BE49-F238E27FC236}">
                <a16:creationId xmlns:a16="http://schemas.microsoft.com/office/drawing/2014/main" id="{79DEF544-AB58-4FE7-0AE1-0482A3E76C4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516" y="2542065"/>
            <a:ext cx="447401" cy="563609"/>
          </a:xfrm>
          <a:prstGeom prst="rect">
            <a:avLst/>
          </a:prstGeom>
        </p:spPr>
      </p:pic>
      <p:pic>
        <p:nvPicPr>
          <p:cNvPr id="2097197" name="Picture 2097196">
            <a:extLst>
              <a:ext uri="{FF2B5EF4-FFF2-40B4-BE49-F238E27FC236}">
                <a16:creationId xmlns:a16="http://schemas.microsoft.com/office/drawing/2014/main" id="{E83B599F-38FC-3CC0-F69A-5168CADA3CE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4153" y="3456879"/>
            <a:ext cx="515968" cy="477431"/>
          </a:xfrm>
          <a:prstGeom prst="rect">
            <a:avLst/>
          </a:prstGeom>
        </p:spPr>
      </p:pic>
      <p:pic>
        <p:nvPicPr>
          <p:cNvPr id="2097199" name="Picture 2097198">
            <a:extLst>
              <a:ext uri="{FF2B5EF4-FFF2-40B4-BE49-F238E27FC236}">
                <a16:creationId xmlns:a16="http://schemas.microsoft.com/office/drawing/2014/main" id="{F4539BB8-8618-73F6-4D4E-CF2DAFB3465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65018" y="1686382"/>
            <a:ext cx="421504" cy="476516"/>
          </a:xfrm>
          <a:prstGeom prst="rect">
            <a:avLst/>
          </a:prstGeom>
        </p:spPr>
      </p:pic>
      <p:pic>
        <p:nvPicPr>
          <p:cNvPr id="2097201" name="Picture 2097200">
            <a:extLst>
              <a:ext uri="{FF2B5EF4-FFF2-40B4-BE49-F238E27FC236}">
                <a16:creationId xmlns:a16="http://schemas.microsoft.com/office/drawing/2014/main" id="{9C20F32D-C767-03DF-95FA-55203C1A486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63731" y="4316398"/>
            <a:ext cx="507582" cy="462881"/>
          </a:xfrm>
          <a:prstGeom prst="rect">
            <a:avLst/>
          </a:prstGeom>
        </p:spPr>
      </p:pic>
      <p:pic>
        <p:nvPicPr>
          <p:cNvPr id="2097203" name="Picture 2097202">
            <a:extLst>
              <a:ext uri="{FF2B5EF4-FFF2-40B4-BE49-F238E27FC236}">
                <a16:creationId xmlns:a16="http://schemas.microsoft.com/office/drawing/2014/main" id="{FBF0AE83-3F5F-DD25-7047-15CE60A4704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80568" y="6111577"/>
            <a:ext cx="473837" cy="405732"/>
          </a:xfrm>
          <a:prstGeom prst="rect">
            <a:avLst/>
          </a:prstGeom>
        </p:spPr>
      </p:pic>
      <p:sp>
        <p:nvSpPr>
          <p:cNvPr id="2097205" name="TextBox 2097204">
            <a:extLst>
              <a:ext uri="{FF2B5EF4-FFF2-40B4-BE49-F238E27FC236}">
                <a16:creationId xmlns:a16="http://schemas.microsoft.com/office/drawing/2014/main" id="{4963F2D0-1FA7-FF98-FA14-D9DA9734C672}"/>
              </a:ext>
            </a:extLst>
          </p:cNvPr>
          <p:cNvSpPr txBox="1"/>
          <p:nvPr/>
        </p:nvSpPr>
        <p:spPr>
          <a:xfrm>
            <a:off x="2293079" y="497438"/>
            <a:ext cx="1014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Rainfall–Terrain–Drainage Coupling for Street-Level Flood Nowcasting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D09892-1992-60EA-4CCC-1AE19BA844D4}"/>
              </a:ext>
            </a:extLst>
          </p:cNvPr>
          <p:cNvCxnSpPr>
            <a:cxnSpLocks/>
          </p:cNvCxnSpPr>
          <p:nvPr/>
        </p:nvCxnSpPr>
        <p:spPr>
          <a:xfrm>
            <a:off x="739837" y="2528998"/>
            <a:ext cx="8018244" cy="2104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6EDB00-E8D3-2025-9E46-538F13E2FEE3}"/>
              </a:ext>
            </a:extLst>
          </p:cNvPr>
          <p:cNvCxnSpPr/>
          <p:nvPr/>
        </p:nvCxnSpPr>
        <p:spPr>
          <a:xfrm>
            <a:off x="6496479" y="2549356"/>
            <a:ext cx="0" cy="3192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4F9162F-2BF7-4284-2D2B-909C985CA517}"/>
              </a:ext>
            </a:extLst>
          </p:cNvPr>
          <p:cNvCxnSpPr/>
          <p:nvPr/>
        </p:nvCxnSpPr>
        <p:spPr>
          <a:xfrm>
            <a:off x="6493349" y="5104473"/>
            <a:ext cx="0" cy="3192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2"/>
          <p:cNvSpPr txBox="1"/>
          <p:nvPr/>
        </p:nvSpPr>
        <p:spPr>
          <a:xfrm>
            <a:off x="3102051" y="267433"/>
            <a:ext cx="6115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FEASIBILITY &amp; VIABILITY</a:t>
            </a:r>
          </a:p>
        </p:txBody>
      </p:sp>
      <p:cxnSp>
        <p:nvCxnSpPr>
          <p:cNvPr id="3145728" name="Straight Connector 14"/>
          <p:cNvCxnSpPr>
            <a:cxnSpLocks/>
          </p:cNvCxnSpPr>
          <p:nvPr/>
        </p:nvCxnSpPr>
        <p:spPr>
          <a:xfrm>
            <a:off x="2144216" y="643798"/>
            <a:ext cx="894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Straight Connector 15"/>
          <p:cNvCxnSpPr>
            <a:cxnSpLocks/>
          </p:cNvCxnSpPr>
          <p:nvPr/>
        </p:nvCxnSpPr>
        <p:spPr>
          <a:xfrm>
            <a:off x="8036477" y="569615"/>
            <a:ext cx="894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6" name="Rectangle: Rounded Corners 16"/>
          <p:cNvSpPr/>
          <p:nvPr/>
        </p:nvSpPr>
        <p:spPr>
          <a:xfrm>
            <a:off x="304800" y="1188045"/>
            <a:ext cx="2478182" cy="39935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87" name="TextBox 19"/>
          <p:cNvSpPr txBox="1"/>
          <p:nvPr/>
        </p:nvSpPr>
        <p:spPr>
          <a:xfrm>
            <a:off x="514188" y="1252635"/>
            <a:ext cx="2077396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1.DATA FEASIBILITY</a:t>
            </a:r>
          </a:p>
        </p:txBody>
      </p:sp>
      <p:cxnSp>
        <p:nvCxnSpPr>
          <p:cNvPr id="3145730" name="Straight Connector 21"/>
          <p:cNvCxnSpPr>
            <a:cxnSpLocks/>
          </p:cNvCxnSpPr>
          <p:nvPr/>
        </p:nvCxnSpPr>
        <p:spPr>
          <a:xfrm>
            <a:off x="304800" y="1629504"/>
            <a:ext cx="2478182" cy="0"/>
          </a:xfrm>
          <a:prstGeom prst="line">
            <a:avLst/>
          </a:prstGeom>
          <a:ln w="254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48588" name="TextBox 27"/>
          <p:cNvSpPr txBox="1"/>
          <p:nvPr/>
        </p:nvSpPr>
        <p:spPr>
          <a:xfrm>
            <a:off x="1157974" y="1671495"/>
            <a:ext cx="1850923" cy="9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Rainfall Nowcast</a:t>
            </a:r>
            <a:r>
              <a:rPr lang="en-IN" sz="1400" dirty="0"/>
              <a:t> Doppler Weather Radar / available nowcast</a:t>
            </a:r>
          </a:p>
        </p:txBody>
      </p:sp>
      <p:sp>
        <p:nvSpPr>
          <p:cNvPr id="1048589" name="TextBox 29"/>
          <p:cNvSpPr txBox="1"/>
          <p:nvPr/>
        </p:nvSpPr>
        <p:spPr>
          <a:xfrm>
            <a:off x="1157974" y="2662465"/>
            <a:ext cx="1713271" cy="7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Terrain (DEM)</a:t>
            </a:r>
            <a:r>
              <a:rPr lang="en-IN" sz="1400" dirty="0"/>
              <a:t>  High-resolution elevation data</a:t>
            </a:r>
          </a:p>
        </p:txBody>
      </p:sp>
      <p:sp>
        <p:nvSpPr>
          <p:cNvPr id="1048590" name="TextBox 31"/>
          <p:cNvSpPr txBox="1"/>
          <p:nvPr/>
        </p:nvSpPr>
        <p:spPr>
          <a:xfrm>
            <a:off x="1157974" y="3429000"/>
            <a:ext cx="1334728" cy="7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Road Network</a:t>
            </a:r>
            <a:r>
              <a:rPr lang="en-IN" sz="1400" dirty="0"/>
              <a:t> Street-level GIS data</a:t>
            </a:r>
          </a:p>
        </p:txBody>
      </p:sp>
      <p:sp>
        <p:nvSpPr>
          <p:cNvPr id="1048591" name="TextBox 33"/>
          <p:cNvSpPr txBox="1"/>
          <p:nvPr/>
        </p:nvSpPr>
        <p:spPr>
          <a:xfrm>
            <a:off x="1157974" y="4119768"/>
            <a:ext cx="1329813" cy="90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Citizen Inputs</a:t>
            </a:r>
            <a:r>
              <a:rPr lang="en-IN" sz="1400" dirty="0"/>
              <a:t> Waterlogging &amp; blockage reports</a:t>
            </a:r>
          </a:p>
        </p:txBody>
      </p:sp>
      <p:sp>
        <p:nvSpPr>
          <p:cNvPr id="1048592" name="Rectangle: Rounded Corners 37"/>
          <p:cNvSpPr/>
          <p:nvPr/>
        </p:nvSpPr>
        <p:spPr>
          <a:xfrm>
            <a:off x="8522897" y="1211480"/>
            <a:ext cx="3521978" cy="3892357"/>
          </a:xfrm>
          <a:prstGeom prst="round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93" name="TextBox 39"/>
          <p:cNvSpPr txBox="1"/>
          <p:nvPr/>
        </p:nvSpPr>
        <p:spPr>
          <a:xfrm>
            <a:off x="8784287" y="1276681"/>
            <a:ext cx="3230681" cy="574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7030A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3. KEY CHALLENGES → MITIGATION</a:t>
            </a:r>
          </a:p>
        </p:txBody>
      </p:sp>
      <p:cxnSp>
        <p:nvCxnSpPr>
          <p:cNvPr id="3145731" name="Straight Connector 40"/>
          <p:cNvCxnSpPr>
            <a:cxnSpLocks/>
          </p:cNvCxnSpPr>
          <p:nvPr/>
        </p:nvCxnSpPr>
        <p:spPr>
          <a:xfrm>
            <a:off x="8522897" y="1687819"/>
            <a:ext cx="3505866" cy="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 useBgFill="1">
        <p:nvSpPr>
          <p:cNvPr id="1048594" name="Rectangle: Rounded Corners 43"/>
          <p:cNvSpPr/>
          <p:nvPr/>
        </p:nvSpPr>
        <p:spPr>
          <a:xfrm>
            <a:off x="2917504" y="1188045"/>
            <a:ext cx="5425737" cy="3993551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595" name="TextBox 46"/>
          <p:cNvSpPr txBox="1"/>
          <p:nvPr/>
        </p:nvSpPr>
        <p:spPr>
          <a:xfrm>
            <a:off x="4275303" y="1226347"/>
            <a:ext cx="2775331" cy="62484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2. TECHNICAL FEASIBILITY</a:t>
            </a:r>
          </a:p>
        </p:txBody>
      </p:sp>
      <p:cxnSp>
        <p:nvCxnSpPr>
          <p:cNvPr id="3145732" name="Straight Connector 47"/>
          <p:cNvCxnSpPr>
            <a:cxnSpLocks/>
          </p:cNvCxnSpPr>
          <p:nvPr/>
        </p:nvCxnSpPr>
        <p:spPr>
          <a:xfrm>
            <a:off x="2940070" y="1661721"/>
            <a:ext cx="5380603" cy="19547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48596" name="TextBox 52"/>
          <p:cNvSpPr txBox="1"/>
          <p:nvPr/>
        </p:nvSpPr>
        <p:spPr>
          <a:xfrm>
            <a:off x="3724419" y="3031797"/>
            <a:ext cx="6325436" cy="192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Pre-process static GIS / terrain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0"/>
            <a:r>
              <a:rPr lang="en-IN" sz="1400" dirty="0"/>
              <a:t>Model drainage capacity and blockage effects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0"/>
            <a:r>
              <a:rPr lang="en-IN" sz="1400" dirty="0"/>
              <a:t>Run hydraulic computation for selected areas</a:t>
            </a:r>
          </a:p>
          <a:p>
            <a:pPr lvl="0"/>
            <a:endParaRPr lang="en-IN" sz="1400" dirty="0"/>
          </a:p>
          <a:p>
            <a:pPr lvl="0"/>
            <a:r>
              <a:rPr lang="en-IN" sz="1400" dirty="0"/>
              <a:t>Generate street-level flood-depth forecasts</a:t>
            </a:r>
          </a:p>
          <a:p>
            <a:pPr lvl="0"/>
            <a:r>
              <a:rPr lang="en-IN" sz="1400" dirty="0"/>
              <a:t> </a:t>
            </a:r>
          </a:p>
          <a:p>
            <a:pPr lvl="0"/>
            <a:r>
              <a:rPr lang="en-IN" sz="1400" dirty="0"/>
              <a:t>Deliver results through Web GIS &amp; APIs</a:t>
            </a:r>
          </a:p>
        </p:txBody>
      </p:sp>
      <p:cxnSp>
        <p:nvCxnSpPr>
          <p:cNvPr id="3145733" name="Straight Connector 55"/>
          <p:cNvCxnSpPr>
            <a:cxnSpLocks/>
          </p:cNvCxnSpPr>
          <p:nvPr/>
        </p:nvCxnSpPr>
        <p:spPr>
          <a:xfrm>
            <a:off x="2917504" y="3000966"/>
            <a:ext cx="5425737" cy="977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4" name="Straight Connector 56"/>
          <p:cNvCxnSpPr>
            <a:cxnSpLocks/>
          </p:cNvCxnSpPr>
          <p:nvPr/>
        </p:nvCxnSpPr>
        <p:spPr>
          <a:xfrm>
            <a:off x="3724419" y="4719533"/>
            <a:ext cx="42238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5" name="Straight Connector 59"/>
          <p:cNvCxnSpPr>
            <a:cxnSpLocks/>
          </p:cNvCxnSpPr>
          <p:nvPr/>
        </p:nvCxnSpPr>
        <p:spPr>
          <a:xfrm>
            <a:off x="3724418" y="4269032"/>
            <a:ext cx="42238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6" name="Straight Connector 60"/>
          <p:cNvCxnSpPr>
            <a:cxnSpLocks/>
          </p:cNvCxnSpPr>
          <p:nvPr/>
        </p:nvCxnSpPr>
        <p:spPr>
          <a:xfrm>
            <a:off x="3724417" y="3826960"/>
            <a:ext cx="42238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7" name="Straight Connector 61"/>
          <p:cNvCxnSpPr>
            <a:cxnSpLocks/>
          </p:cNvCxnSpPr>
          <p:nvPr/>
        </p:nvCxnSpPr>
        <p:spPr>
          <a:xfrm>
            <a:off x="3724417" y="3401129"/>
            <a:ext cx="4223827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4194304" name="Table 69"/>
          <p:cNvGraphicFramePr>
            <a:graphicFrameLocks noGrp="1"/>
          </p:cNvGraphicFramePr>
          <p:nvPr/>
        </p:nvGraphicFramePr>
        <p:xfrm>
          <a:off x="8979924" y="1815186"/>
          <a:ext cx="2987664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3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6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Challenge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Mitigation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Incomplete drainage data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Coverage-aware NO DATA state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 computational demand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Spatial preprocessing &amp; optimized computation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Variable data availability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LIVE / MODEL / SIMULATION states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7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Model uncertainty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rgbClr val="7030A0"/>
                          </a:solidFill>
                        </a:rPr>
                        <a:t>Historical-event validation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145738" name="Straight Connector 70"/>
          <p:cNvCxnSpPr>
            <a:cxnSpLocks/>
          </p:cNvCxnSpPr>
          <p:nvPr/>
        </p:nvCxnSpPr>
        <p:spPr>
          <a:xfrm>
            <a:off x="10261204" y="1822123"/>
            <a:ext cx="0" cy="3091521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39" name="Straight Connector 74"/>
          <p:cNvCxnSpPr>
            <a:cxnSpLocks/>
          </p:cNvCxnSpPr>
          <p:nvPr/>
        </p:nvCxnSpPr>
        <p:spPr>
          <a:xfrm>
            <a:off x="9029878" y="2148548"/>
            <a:ext cx="257710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0" name="Straight Connector 76"/>
          <p:cNvCxnSpPr>
            <a:cxnSpLocks/>
          </p:cNvCxnSpPr>
          <p:nvPr/>
        </p:nvCxnSpPr>
        <p:spPr>
          <a:xfrm>
            <a:off x="9029878" y="2662465"/>
            <a:ext cx="257710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1" name="Straight Connector 77"/>
          <p:cNvCxnSpPr>
            <a:cxnSpLocks/>
          </p:cNvCxnSpPr>
          <p:nvPr/>
        </p:nvCxnSpPr>
        <p:spPr>
          <a:xfrm>
            <a:off x="9029878" y="3588811"/>
            <a:ext cx="257710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2" name="Straight Connector 78"/>
          <p:cNvCxnSpPr>
            <a:cxnSpLocks/>
          </p:cNvCxnSpPr>
          <p:nvPr/>
        </p:nvCxnSpPr>
        <p:spPr>
          <a:xfrm>
            <a:off x="9029878" y="4269032"/>
            <a:ext cx="2660416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3" name="Straight Arrow Connector 85"/>
          <p:cNvCxnSpPr>
            <a:cxnSpLocks/>
          </p:cNvCxnSpPr>
          <p:nvPr/>
        </p:nvCxnSpPr>
        <p:spPr>
          <a:xfrm>
            <a:off x="10004775" y="4481564"/>
            <a:ext cx="4899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4" name="Straight Arrow Connector 86"/>
          <p:cNvCxnSpPr>
            <a:cxnSpLocks/>
          </p:cNvCxnSpPr>
          <p:nvPr/>
        </p:nvCxnSpPr>
        <p:spPr>
          <a:xfrm>
            <a:off x="10049855" y="3779910"/>
            <a:ext cx="463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5" name="Straight Arrow Connector 87"/>
          <p:cNvCxnSpPr>
            <a:cxnSpLocks/>
          </p:cNvCxnSpPr>
          <p:nvPr/>
        </p:nvCxnSpPr>
        <p:spPr>
          <a:xfrm>
            <a:off x="10004775" y="2907323"/>
            <a:ext cx="463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6" name="Straight Arrow Connector 88"/>
          <p:cNvCxnSpPr>
            <a:cxnSpLocks/>
          </p:cNvCxnSpPr>
          <p:nvPr/>
        </p:nvCxnSpPr>
        <p:spPr>
          <a:xfrm>
            <a:off x="3474147" y="2148548"/>
            <a:ext cx="463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7" name="Straight Connector 89"/>
          <p:cNvCxnSpPr>
            <a:cxnSpLocks/>
          </p:cNvCxnSpPr>
          <p:nvPr/>
        </p:nvCxnSpPr>
        <p:spPr>
          <a:xfrm>
            <a:off x="304800" y="2625602"/>
            <a:ext cx="24781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8" name="Straight Connector 90"/>
          <p:cNvCxnSpPr>
            <a:cxnSpLocks/>
          </p:cNvCxnSpPr>
          <p:nvPr/>
        </p:nvCxnSpPr>
        <p:spPr>
          <a:xfrm>
            <a:off x="304800" y="3429000"/>
            <a:ext cx="24781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45749" name="Straight Connector 91"/>
          <p:cNvCxnSpPr>
            <a:cxnSpLocks/>
          </p:cNvCxnSpPr>
          <p:nvPr/>
        </p:nvCxnSpPr>
        <p:spPr>
          <a:xfrm>
            <a:off x="304800" y="4167664"/>
            <a:ext cx="2478182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97153" name="Picture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71" y="1687819"/>
            <a:ext cx="768991" cy="781598"/>
          </a:xfrm>
          <a:prstGeom prst="rect">
            <a:avLst/>
          </a:prstGeom>
        </p:spPr>
      </p:pic>
      <p:pic>
        <p:nvPicPr>
          <p:cNvPr id="2097154" name="Picture 9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85" y="2669805"/>
            <a:ext cx="952010" cy="795710"/>
          </a:xfrm>
          <a:prstGeom prst="rect">
            <a:avLst/>
          </a:prstGeom>
        </p:spPr>
      </p:pic>
      <p:pic>
        <p:nvPicPr>
          <p:cNvPr id="2097155" name="Picture 9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90" y="3546626"/>
            <a:ext cx="800953" cy="560667"/>
          </a:xfrm>
          <a:prstGeom prst="rect">
            <a:avLst/>
          </a:prstGeom>
        </p:spPr>
      </p:pic>
      <p:pic>
        <p:nvPicPr>
          <p:cNvPr id="2097156" name="Picture 10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164" y="4330878"/>
            <a:ext cx="656012" cy="575449"/>
          </a:xfrm>
          <a:prstGeom prst="rect">
            <a:avLst/>
          </a:prstGeom>
        </p:spPr>
      </p:pic>
      <p:pic>
        <p:nvPicPr>
          <p:cNvPr id="2097157" name="Picture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009" y="1810859"/>
            <a:ext cx="768991" cy="781598"/>
          </a:xfrm>
          <a:prstGeom prst="rect">
            <a:avLst/>
          </a:prstGeom>
        </p:spPr>
      </p:pic>
      <p:pic>
        <p:nvPicPr>
          <p:cNvPr id="2097158" name="Picture 1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8678" y="1886058"/>
            <a:ext cx="662998" cy="687782"/>
          </a:xfrm>
          <a:prstGeom prst="rect">
            <a:avLst/>
          </a:prstGeom>
        </p:spPr>
      </p:pic>
      <p:pic>
        <p:nvPicPr>
          <p:cNvPr id="2097159" name="Picture 10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7074" y="1886876"/>
            <a:ext cx="662997" cy="651947"/>
          </a:xfrm>
          <a:prstGeom prst="rect">
            <a:avLst/>
          </a:prstGeom>
        </p:spPr>
      </p:pic>
      <p:pic>
        <p:nvPicPr>
          <p:cNvPr id="2097160" name="Picture 10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3684" y="1899373"/>
            <a:ext cx="688859" cy="652282"/>
          </a:xfrm>
          <a:prstGeom prst="rect">
            <a:avLst/>
          </a:prstGeom>
        </p:spPr>
      </p:pic>
      <p:pic>
        <p:nvPicPr>
          <p:cNvPr id="2097161" name="Picture 1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3776" y="1851917"/>
            <a:ext cx="776781" cy="686906"/>
          </a:xfrm>
          <a:prstGeom prst="rect">
            <a:avLst/>
          </a:prstGeom>
        </p:spPr>
      </p:pic>
      <p:pic>
        <p:nvPicPr>
          <p:cNvPr id="2097162" name="Picture 1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1906" y="1873036"/>
            <a:ext cx="537834" cy="630564"/>
          </a:xfrm>
          <a:prstGeom prst="rect">
            <a:avLst/>
          </a:prstGeom>
        </p:spPr>
      </p:pic>
      <p:cxnSp>
        <p:nvCxnSpPr>
          <p:cNvPr id="3145750" name="Straight Arrow Connector 114"/>
          <p:cNvCxnSpPr>
            <a:cxnSpLocks/>
          </p:cNvCxnSpPr>
          <p:nvPr/>
        </p:nvCxnSpPr>
        <p:spPr>
          <a:xfrm>
            <a:off x="10029397" y="2312092"/>
            <a:ext cx="463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1" name="Straight Arrow Connector 115"/>
          <p:cNvCxnSpPr>
            <a:cxnSpLocks/>
          </p:cNvCxnSpPr>
          <p:nvPr/>
        </p:nvCxnSpPr>
        <p:spPr>
          <a:xfrm>
            <a:off x="4552335" y="2148548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2" name="Straight Arrow Connector 118"/>
          <p:cNvCxnSpPr>
            <a:cxnSpLocks/>
          </p:cNvCxnSpPr>
          <p:nvPr/>
        </p:nvCxnSpPr>
        <p:spPr>
          <a:xfrm>
            <a:off x="5540071" y="2148748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3" name="Straight Arrow Connector 119"/>
          <p:cNvCxnSpPr>
            <a:cxnSpLocks/>
          </p:cNvCxnSpPr>
          <p:nvPr/>
        </p:nvCxnSpPr>
        <p:spPr>
          <a:xfrm>
            <a:off x="7560557" y="2103398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4" name="Straight Arrow Connector 120"/>
          <p:cNvCxnSpPr>
            <a:cxnSpLocks/>
          </p:cNvCxnSpPr>
          <p:nvPr/>
        </p:nvCxnSpPr>
        <p:spPr>
          <a:xfrm>
            <a:off x="6560347" y="2129083"/>
            <a:ext cx="21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97163" name="Picture 1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9615" y="3054600"/>
            <a:ext cx="452792" cy="2059011"/>
          </a:xfrm>
          <a:prstGeom prst="rect">
            <a:avLst/>
          </a:prstGeom>
        </p:spPr>
      </p:pic>
      <p:pic>
        <p:nvPicPr>
          <p:cNvPr id="2097164" name="Picture 1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50837" y="2113069"/>
            <a:ext cx="528872" cy="528872"/>
          </a:xfrm>
          <a:prstGeom prst="rect">
            <a:avLst/>
          </a:prstGeom>
        </p:spPr>
      </p:pic>
      <p:pic>
        <p:nvPicPr>
          <p:cNvPr id="2097165" name="Picture 1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4589" y="2761905"/>
            <a:ext cx="511423" cy="526465"/>
          </a:xfrm>
          <a:prstGeom prst="rect">
            <a:avLst/>
          </a:prstGeom>
        </p:spPr>
      </p:pic>
      <p:pic>
        <p:nvPicPr>
          <p:cNvPr id="2097166" name="Picture 1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7406" y="3681148"/>
            <a:ext cx="508058" cy="513088"/>
          </a:xfrm>
          <a:prstGeom prst="rect">
            <a:avLst/>
          </a:prstGeom>
        </p:spPr>
      </p:pic>
      <p:pic>
        <p:nvPicPr>
          <p:cNvPr id="2097167" name="Picture 13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0701" y="4343829"/>
            <a:ext cx="461472" cy="446899"/>
          </a:xfrm>
          <a:prstGeom prst="rect">
            <a:avLst/>
          </a:prstGeom>
        </p:spPr>
      </p:pic>
      <p:sp>
        <p:nvSpPr>
          <p:cNvPr id="1048597" name="TextBox 133"/>
          <p:cNvSpPr txBox="1"/>
          <p:nvPr/>
        </p:nvSpPr>
        <p:spPr>
          <a:xfrm>
            <a:off x="2975677" y="2540310"/>
            <a:ext cx="1084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Rainfall Nowcast </a:t>
            </a:r>
          </a:p>
        </p:txBody>
      </p:sp>
      <p:sp>
        <p:nvSpPr>
          <p:cNvPr id="1048598" name="TextBox 135"/>
          <p:cNvSpPr txBox="1"/>
          <p:nvPr/>
        </p:nvSpPr>
        <p:spPr>
          <a:xfrm>
            <a:off x="3882672" y="2505019"/>
            <a:ext cx="98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Runoff Estimation</a:t>
            </a:r>
          </a:p>
        </p:txBody>
      </p:sp>
      <p:sp>
        <p:nvSpPr>
          <p:cNvPr id="1048599" name="TextBox 137"/>
          <p:cNvSpPr txBox="1"/>
          <p:nvPr/>
        </p:nvSpPr>
        <p:spPr>
          <a:xfrm>
            <a:off x="4768645" y="2503028"/>
            <a:ext cx="11044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2D Surface Flow</a:t>
            </a:r>
          </a:p>
        </p:txBody>
      </p:sp>
      <p:sp>
        <p:nvSpPr>
          <p:cNvPr id="1048600" name="TextBox 139"/>
          <p:cNvSpPr txBox="1"/>
          <p:nvPr/>
        </p:nvSpPr>
        <p:spPr>
          <a:xfrm>
            <a:off x="5810319" y="2528272"/>
            <a:ext cx="1177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Drainage Network </a:t>
            </a:r>
          </a:p>
        </p:txBody>
      </p:sp>
      <p:sp>
        <p:nvSpPr>
          <p:cNvPr id="1048601" name="TextBox 141"/>
          <p:cNvSpPr txBox="1"/>
          <p:nvPr/>
        </p:nvSpPr>
        <p:spPr>
          <a:xfrm>
            <a:off x="6765975" y="2511095"/>
            <a:ext cx="977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Overflow</a:t>
            </a:r>
          </a:p>
        </p:txBody>
      </p:sp>
      <p:sp>
        <p:nvSpPr>
          <p:cNvPr id="1048602" name="TextBox 143"/>
          <p:cNvSpPr txBox="1"/>
          <p:nvPr/>
        </p:nvSpPr>
        <p:spPr>
          <a:xfrm>
            <a:off x="7666545" y="2493133"/>
            <a:ext cx="1084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Alerts &amp; Routing</a:t>
            </a:r>
          </a:p>
        </p:txBody>
      </p:sp>
      <p:sp useBgFill="1">
        <p:nvSpPr>
          <p:cNvPr id="1048603" name="Rectangle: Rounded Corners 144"/>
          <p:cNvSpPr/>
          <p:nvPr/>
        </p:nvSpPr>
        <p:spPr>
          <a:xfrm>
            <a:off x="304800" y="5261099"/>
            <a:ext cx="11740075" cy="1459078"/>
          </a:xfrm>
          <a:prstGeom prst="roundRect">
            <a:avLst/>
          </a:prstGeom>
          <a:ln>
            <a:solidFill>
              <a:srgbClr val="1F839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200" dirty="0"/>
          </a:p>
        </p:txBody>
      </p:sp>
      <p:sp>
        <p:nvSpPr>
          <p:cNvPr id="1048604" name="TextBox 148"/>
          <p:cNvSpPr txBox="1"/>
          <p:nvPr/>
        </p:nvSpPr>
        <p:spPr>
          <a:xfrm>
            <a:off x="4397028" y="5258243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>
                  <a:outerShdw blurRad="139700" dist="50800" dir="5400000" algn="ctr" rotWithShape="0">
                    <a:srgbClr val="1F8391">
                      <a:alpha val="58000"/>
                    </a:srgbClr>
                  </a:outerShdw>
                </a:effectLst>
              </a:rPr>
              <a:t>4.VIABILITY &amp; SCALABILITY</a:t>
            </a:r>
          </a:p>
        </p:txBody>
      </p:sp>
      <p:cxnSp>
        <p:nvCxnSpPr>
          <p:cNvPr id="3145755" name="Straight Connector 149"/>
          <p:cNvCxnSpPr>
            <a:cxnSpLocks/>
          </p:cNvCxnSpPr>
          <p:nvPr/>
        </p:nvCxnSpPr>
        <p:spPr>
          <a:xfrm flipV="1">
            <a:off x="304800" y="5541028"/>
            <a:ext cx="11710168" cy="47671"/>
          </a:xfrm>
          <a:prstGeom prst="line">
            <a:avLst/>
          </a:prstGeom>
          <a:ln w="25400">
            <a:solidFill>
              <a:srgbClr val="1F83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97168" name="Picture 15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7997" y="5633657"/>
            <a:ext cx="723963" cy="495343"/>
          </a:xfrm>
          <a:prstGeom prst="rect">
            <a:avLst/>
          </a:prstGeom>
        </p:spPr>
      </p:pic>
      <p:pic>
        <p:nvPicPr>
          <p:cNvPr id="2097169" name="Picture 15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35270" y="5594348"/>
            <a:ext cx="940969" cy="531852"/>
          </a:xfrm>
          <a:prstGeom prst="rect">
            <a:avLst/>
          </a:prstGeom>
        </p:spPr>
      </p:pic>
      <p:pic>
        <p:nvPicPr>
          <p:cNvPr id="2097170" name="Picture 15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91892" y="5654857"/>
            <a:ext cx="798831" cy="452945"/>
          </a:xfrm>
          <a:prstGeom prst="rect">
            <a:avLst/>
          </a:prstGeom>
        </p:spPr>
      </p:pic>
      <p:pic>
        <p:nvPicPr>
          <p:cNvPr id="2097171" name="Picture 15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60347" y="5644031"/>
            <a:ext cx="798831" cy="450826"/>
          </a:xfrm>
          <a:prstGeom prst="rect">
            <a:avLst/>
          </a:prstGeom>
        </p:spPr>
      </p:pic>
      <p:sp>
        <p:nvSpPr>
          <p:cNvPr id="1048605" name="TextBox 160"/>
          <p:cNvSpPr txBox="1"/>
          <p:nvPr/>
        </p:nvSpPr>
        <p:spPr>
          <a:xfrm>
            <a:off x="390130" y="6102472"/>
            <a:ext cx="1743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      Pilot Area</a:t>
            </a:r>
          </a:p>
          <a:p>
            <a:r>
              <a:rPr lang="en-IN" sz="1200" dirty="0"/>
              <a:t>Data-supported pilot          implementation</a:t>
            </a:r>
          </a:p>
        </p:txBody>
      </p:sp>
      <p:sp>
        <p:nvSpPr>
          <p:cNvPr id="1048606" name="TextBox 162"/>
          <p:cNvSpPr txBox="1"/>
          <p:nvPr/>
        </p:nvSpPr>
        <p:spPr>
          <a:xfrm rot="10800000" flipV="1">
            <a:off x="2591584" y="6085341"/>
            <a:ext cx="14154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     Ward Level</a:t>
            </a:r>
          </a:p>
          <a:p>
            <a:r>
              <a:rPr lang="en-IN" sz="1200" dirty="0"/>
              <a:t>Expand within the ward</a:t>
            </a:r>
          </a:p>
        </p:txBody>
      </p:sp>
      <p:sp>
        <p:nvSpPr>
          <p:cNvPr id="1048607" name="TextBox 164"/>
          <p:cNvSpPr txBox="1"/>
          <p:nvPr/>
        </p:nvSpPr>
        <p:spPr>
          <a:xfrm>
            <a:off x="4584228" y="6084104"/>
            <a:ext cx="11525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City Level</a:t>
            </a:r>
          </a:p>
          <a:p>
            <a:r>
              <a:rPr lang="en-IN" sz="1200" dirty="0"/>
              <a:t>City-wide coverage </a:t>
            </a:r>
          </a:p>
        </p:txBody>
      </p:sp>
      <p:sp>
        <p:nvSpPr>
          <p:cNvPr id="1048608" name="TextBox 166"/>
          <p:cNvSpPr txBox="1"/>
          <p:nvPr/>
        </p:nvSpPr>
        <p:spPr>
          <a:xfrm>
            <a:off x="6443734" y="6080838"/>
            <a:ext cx="15637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Multi-City</a:t>
            </a:r>
          </a:p>
          <a:p>
            <a:r>
              <a:rPr lang="en-IN" sz="1200" dirty="0"/>
              <a:t>Scale to multiple cities / regions</a:t>
            </a:r>
          </a:p>
        </p:txBody>
      </p:sp>
      <p:cxnSp>
        <p:nvCxnSpPr>
          <p:cNvPr id="3145756" name="Straight Connector 167"/>
          <p:cNvCxnSpPr>
            <a:cxnSpLocks/>
          </p:cNvCxnSpPr>
          <p:nvPr/>
        </p:nvCxnSpPr>
        <p:spPr>
          <a:xfrm>
            <a:off x="7666545" y="5724970"/>
            <a:ext cx="0" cy="764723"/>
          </a:xfrm>
          <a:prstGeom prst="line">
            <a:avLst/>
          </a:prstGeom>
          <a:ln>
            <a:solidFill>
              <a:srgbClr val="1F839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48609" name="TextBox 171"/>
          <p:cNvSpPr txBox="1"/>
          <p:nvPr/>
        </p:nvSpPr>
        <p:spPr>
          <a:xfrm>
            <a:off x="8002992" y="5564649"/>
            <a:ext cx="4277604" cy="1107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400" dirty="0"/>
              <a:t>Reusable model &amp; software architecture </a:t>
            </a:r>
          </a:p>
          <a:p>
            <a:pPr lvl="0"/>
            <a:r>
              <a:rPr lang="en-IN" sz="1400" dirty="0"/>
              <a:t>City-specific GIS / drainage layers </a:t>
            </a:r>
          </a:p>
          <a:p>
            <a:pPr lvl="0"/>
            <a:r>
              <a:rPr lang="en-IN" sz="1400" dirty="0"/>
              <a:t>API-based integration with existing systems </a:t>
            </a:r>
          </a:p>
          <a:p>
            <a:pPr lvl="0"/>
            <a:r>
              <a:rPr lang="en-IN" sz="1400" dirty="0"/>
              <a:t>One platform for citizens, municipalities &amp;</a:t>
            </a:r>
          </a:p>
          <a:p>
            <a:pPr lvl="0"/>
            <a:r>
              <a:rPr lang="en-IN" sz="1400" dirty="0"/>
              <a:t> emergency services</a:t>
            </a:r>
          </a:p>
        </p:txBody>
      </p:sp>
      <p:pic>
        <p:nvPicPr>
          <p:cNvPr id="2097172" name="Picture 17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03557" y="5613786"/>
            <a:ext cx="337266" cy="227764"/>
          </a:xfrm>
          <a:prstGeom prst="rect">
            <a:avLst/>
          </a:prstGeom>
        </p:spPr>
      </p:pic>
      <p:pic>
        <p:nvPicPr>
          <p:cNvPr id="2097173" name="Picture 17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03557" y="5837511"/>
            <a:ext cx="337266" cy="227764"/>
          </a:xfrm>
          <a:prstGeom prst="rect">
            <a:avLst/>
          </a:prstGeom>
        </p:spPr>
      </p:pic>
      <p:pic>
        <p:nvPicPr>
          <p:cNvPr id="2097174" name="Picture 17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03557" y="6047266"/>
            <a:ext cx="337266" cy="227764"/>
          </a:xfrm>
          <a:prstGeom prst="rect">
            <a:avLst/>
          </a:prstGeom>
        </p:spPr>
      </p:pic>
      <p:pic>
        <p:nvPicPr>
          <p:cNvPr id="2097175" name="Picture 17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99211" y="6267643"/>
            <a:ext cx="337266" cy="227764"/>
          </a:xfrm>
          <a:prstGeom prst="rect">
            <a:avLst/>
          </a:prstGeom>
        </p:spPr>
      </p:pic>
      <p:cxnSp>
        <p:nvCxnSpPr>
          <p:cNvPr id="3145757" name="Straight Arrow Connector 180"/>
          <p:cNvCxnSpPr>
            <a:cxnSpLocks/>
          </p:cNvCxnSpPr>
          <p:nvPr/>
        </p:nvCxnSpPr>
        <p:spPr>
          <a:xfrm>
            <a:off x="1774212" y="5887755"/>
            <a:ext cx="81737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8" name="Straight Arrow Connector 182"/>
          <p:cNvCxnSpPr>
            <a:cxnSpLocks/>
          </p:cNvCxnSpPr>
          <p:nvPr/>
        </p:nvCxnSpPr>
        <p:spPr>
          <a:xfrm>
            <a:off x="5687314" y="5860274"/>
            <a:ext cx="81737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59" name="Straight Arrow Connector 183"/>
          <p:cNvCxnSpPr>
            <a:cxnSpLocks/>
          </p:cNvCxnSpPr>
          <p:nvPr/>
        </p:nvCxnSpPr>
        <p:spPr>
          <a:xfrm>
            <a:off x="3651856" y="5881328"/>
            <a:ext cx="81737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8"/>
          <p:cNvGrpSpPr/>
          <p:nvPr/>
        </p:nvGrpSpPr>
        <p:grpSpPr>
          <a:xfrm>
            <a:off x="125854" y="276636"/>
            <a:ext cx="6601245" cy="523220"/>
            <a:chOff x="88491" y="307087"/>
            <a:chExt cx="6601245" cy="523220"/>
          </a:xfrm>
        </p:grpSpPr>
        <p:sp>
          <p:nvSpPr>
            <p:cNvPr id="1048610" name="TextBox 4"/>
            <p:cNvSpPr txBox="1"/>
            <p:nvPr/>
          </p:nvSpPr>
          <p:spPr>
            <a:xfrm>
              <a:off x="88491" y="307087"/>
              <a:ext cx="29204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dirty="0" err="1">
                  <a:solidFill>
                    <a:schemeClr val="accent2">
                      <a:lumMod val="75000"/>
                    </a:schemeClr>
                  </a:solidFill>
                  <a:latin typeface="Blackadder ITC" panose="04020505051007020D02" pitchFamily="82" charset="0"/>
                </a:rPr>
                <a:t>Out</a:t>
              </a:r>
              <a:r>
                <a:rPr lang="en-IN" sz="1200" b="1" dirty="0" err="1">
                  <a:solidFill>
                    <a:schemeClr val="accent1">
                      <a:lumMod val="75000"/>
                    </a:schemeClr>
                  </a:solidFill>
                  <a:latin typeface="Arial Black" panose="020B0A04020102020204" pitchFamily="34" charset="0"/>
                </a:rPr>
                <a:t>Thinkers</a:t>
              </a:r>
              <a:endParaRPr lang="en-IN" sz="1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048611" name="TextBox 3"/>
            <p:cNvSpPr txBox="1"/>
            <p:nvPr/>
          </p:nvSpPr>
          <p:spPr>
            <a:xfrm>
              <a:off x="343014" y="315981"/>
              <a:ext cx="634672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b="1" dirty="0">
                  <a:solidFill>
                    <a:schemeClr val="accent1">
                      <a:lumMod val="75000"/>
                    </a:schemeClr>
                  </a:solidFill>
                  <a:latin typeface="Bookman Old Style" panose="02050604050505020204" pitchFamily="18" charset="0"/>
                </a:rPr>
                <a:t> The</a:t>
              </a:r>
            </a:p>
          </p:txBody>
        </p:sp>
      </p:grpSp>
      <p:grpSp>
        <p:nvGrpSpPr>
          <p:cNvPr id="23" name="Group 11"/>
          <p:cNvGrpSpPr/>
          <p:nvPr/>
        </p:nvGrpSpPr>
        <p:grpSpPr>
          <a:xfrm>
            <a:off x="10067239" y="51507"/>
            <a:ext cx="2055172" cy="1344468"/>
            <a:chOff x="10067239" y="81002"/>
            <a:chExt cx="2055172" cy="1529419"/>
          </a:xfrm>
        </p:grpSpPr>
        <p:sp>
          <p:nvSpPr>
            <p:cNvPr id="1048612" name="Rectangle 13"/>
            <p:cNvSpPr/>
            <p:nvPr/>
          </p:nvSpPr>
          <p:spPr>
            <a:xfrm>
              <a:off x="10067239" y="81002"/>
              <a:ext cx="2035073" cy="1280597"/>
            </a:xfrm>
            <a:custGeom>
              <a:avLst/>
              <a:gdLst>
                <a:gd name="csX0" fmla="*/ 0 w 2035073"/>
                <a:gd name="csY0" fmla="*/ 0 h 1125736"/>
                <a:gd name="csX1" fmla="*/ 508768 w 2035073"/>
                <a:gd name="csY1" fmla="*/ 0 h 1125736"/>
                <a:gd name="csX2" fmla="*/ 956484 w 2035073"/>
                <a:gd name="csY2" fmla="*/ 0 h 1125736"/>
                <a:gd name="csX3" fmla="*/ 1465253 w 2035073"/>
                <a:gd name="csY3" fmla="*/ 0 h 1125736"/>
                <a:gd name="csX4" fmla="*/ 2035073 w 2035073"/>
                <a:gd name="csY4" fmla="*/ 0 h 1125736"/>
                <a:gd name="csX5" fmla="*/ 2035073 w 2035073"/>
                <a:gd name="csY5" fmla="*/ 529096 h 1125736"/>
                <a:gd name="csX6" fmla="*/ 2035073 w 2035073"/>
                <a:gd name="csY6" fmla="*/ 1125736 h 1125736"/>
                <a:gd name="csX7" fmla="*/ 1505954 w 2035073"/>
                <a:gd name="csY7" fmla="*/ 1125736 h 1125736"/>
                <a:gd name="csX8" fmla="*/ 1058238 w 2035073"/>
                <a:gd name="csY8" fmla="*/ 1125736 h 1125736"/>
                <a:gd name="csX9" fmla="*/ 549470 w 2035073"/>
                <a:gd name="csY9" fmla="*/ 1125736 h 1125736"/>
                <a:gd name="csX10" fmla="*/ 0 w 2035073"/>
                <a:gd name="csY10" fmla="*/ 1125736 h 1125736"/>
                <a:gd name="csX11" fmla="*/ 0 w 2035073"/>
                <a:gd name="csY11" fmla="*/ 540353 h 1125736"/>
                <a:gd name="csX12" fmla="*/ 0 w 2035073"/>
                <a:gd name="csY12" fmla="*/ 0 h 11257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035073" h="1125736" fill="none" extrusionOk="0">
                  <a:moveTo>
                    <a:pt x="0" y="0"/>
                  </a:moveTo>
                  <a:cubicBezTo>
                    <a:pt x="214292" y="-28218"/>
                    <a:pt x="370383" y="11013"/>
                    <a:pt x="508768" y="0"/>
                  </a:cubicBezTo>
                  <a:cubicBezTo>
                    <a:pt x="647153" y="-11013"/>
                    <a:pt x="833578" y="32150"/>
                    <a:pt x="956484" y="0"/>
                  </a:cubicBezTo>
                  <a:cubicBezTo>
                    <a:pt x="1079390" y="-32150"/>
                    <a:pt x="1280589" y="22479"/>
                    <a:pt x="1465253" y="0"/>
                  </a:cubicBezTo>
                  <a:cubicBezTo>
                    <a:pt x="1649917" y="-22479"/>
                    <a:pt x="1830976" y="21950"/>
                    <a:pt x="2035073" y="0"/>
                  </a:cubicBezTo>
                  <a:cubicBezTo>
                    <a:pt x="2042307" y="264082"/>
                    <a:pt x="2034441" y="335419"/>
                    <a:pt x="2035073" y="529096"/>
                  </a:cubicBezTo>
                  <a:cubicBezTo>
                    <a:pt x="2035705" y="722773"/>
                    <a:pt x="2026363" y="968628"/>
                    <a:pt x="2035073" y="1125736"/>
                  </a:cubicBezTo>
                  <a:cubicBezTo>
                    <a:pt x="1902158" y="1158766"/>
                    <a:pt x="1637104" y="1085498"/>
                    <a:pt x="1505954" y="1125736"/>
                  </a:cubicBezTo>
                  <a:cubicBezTo>
                    <a:pt x="1374804" y="1165974"/>
                    <a:pt x="1214363" y="1084328"/>
                    <a:pt x="1058238" y="1125736"/>
                  </a:cubicBezTo>
                  <a:cubicBezTo>
                    <a:pt x="902113" y="1167144"/>
                    <a:pt x="797153" y="1096719"/>
                    <a:pt x="549470" y="1125736"/>
                  </a:cubicBezTo>
                  <a:cubicBezTo>
                    <a:pt x="301787" y="1154753"/>
                    <a:pt x="196455" y="1077618"/>
                    <a:pt x="0" y="1125736"/>
                  </a:cubicBezTo>
                  <a:cubicBezTo>
                    <a:pt x="-67088" y="999956"/>
                    <a:pt x="9904" y="719771"/>
                    <a:pt x="0" y="540353"/>
                  </a:cubicBezTo>
                  <a:cubicBezTo>
                    <a:pt x="-9904" y="360935"/>
                    <a:pt x="546" y="171513"/>
                    <a:pt x="0" y="0"/>
                  </a:cubicBezTo>
                  <a:close/>
                </a:path>
                <a:path w="2035073" h="1125736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9867" y="277673"/>
                    <a:pt x="2025792" y="443137"/>
                    <a:pt x="2035073" y="562868"/>
                  </a:cubicBezTo>
                  <a:cubicBezTo>
                    <a:pt x="2044354" y="682599"/>
                    <a:pt x="1995193" y="919673"/>
                    <a:pt x="2035073" y="1125736"/>
                  </a:cubicBezTo>
                  <a:cubicBezTo>
                    <a:pt x="1798543" y="1140721"/>
                    <a:pt x="1696165" y="1114029"/>
                    <a:pt x="1505954" y="1125736"/>
                  </a:cubicBezTo>
                  <a:cubicBezTo>
                    <a:pt x="1315743" y="1137443"/>
                    <a:pt x="1211644" y="1116760"/>
                    <a:pt x="1037887" y="1125736"/>
                  </a:cubicBezTo>
                  <a:cubicBezTo>
                    <a:pt x="864130" y="1134712"/>
                    <a:pt x="702108" y="1076921"/>
                    <a:pt x="590171" y="1125736"/>
                  </a:cubicBezTo>
                  <a:cubicBezTo>
                    <a:pt x="478234" y="1174551"/>
                    <a:pt x="268789" y="1117056"/>
                    <a:pt x="0" y="1125736"/>
                  </a:cubicBezTo>
                  <a:cubicBezTo>
                    <a:pt x="-23884" y="926692"/>
                    <a:pt x="59405" y="680804"/>
                    <a:pt x="0" y="562868"/>
                  </a:cubicBezTo>
                  <a:cubicBezTo>
                    <a:pt x="-59405" y="444932"/>
                    <a:pt x="20276" y="252412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24" name="Group 17"/>
            <p:cNvGrpSpPr/>
            <p:nvPr/>
          </p:nvGrpSpPr>
          <p:grpSpPr>
            <a:xfrm>
              <a:off x="10087337" y="120576"/>
              <a:ext cx="2035074" cy="1489845"/>
              <a:chOff x="10004776" y="0"/>
              <a:chExt cx="2285547" cy="1489845"/>
            </a:xfrm>
          </p:grpSpPr>
          <p:pic>
            <p:nvPicPr>
              <p:cNvPr id="2097176" name="Picture 18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1048613" name="TextBox 20"/>
              <p:cNvSpPr txBox="1"/>
              <p:nvPr/>
            </p:nvSpPr>
            <p:spPr>
              <a:xfrm>
                <a:off x="10923639" y="230061"/>
                <a:ext cx="1366684" cy="1259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2026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extBox 7"/>
          <p:cNvSpPr txBox="1"/>
          <p:nvPr/>
        </p:nvSpPr>
        <p:spPr>
          <a:xfrm>
            <a:off x="3588619" y="189946"/>
            <a:ext cx="6327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</a:rPr>
              <a:t>IMPACT &amp; BENEFITS</a:t>
            </a:r>
          </a:p>
        </p:txBody>
      </p:sp>
      <p:cxnSp>
        <p:nvCxnSpPr>
          <p:cNvPr id="3145778" name="Straight Connector 11"/>
          <p:cNvCxnSpPr>
            <a:cxnSpLocks/>
          </p:cNvCxnSpPr>
          <p:nvPr/>
        </p:nvCxnSpPr>
        <p:spPr>
          <a:xfrm>
            <a:off x="1832572" y="943847"/>
            <a:ext cx="7755874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20"/>
          <p:cNvGrpSpPr/>
          <p:nvPr/>
        </p:nvGrpSpPr>
        <p:grpSpPr>
          <a:xfrm>
            <a:off x="10067239" y="81002"/>
            <a:ext cx="2055172" cy="1377075"/>
            <a:chOff x="10067239" y="81002"/>
            <a:chExt cx="2055172" cy="1377075"/>
          </a:xfrm>
        </p:grpSpPr>
        <p:sp>
          <p:nvSpPr>
            <p:cNvPr id="1048655" name="Rectangle 17"/>
            <p:cNvSpPr/>
            <p:nvPr/>
          </p:nvSpPr>
          <p:spPr>
            <a:xfrm>
              <a:off x="10067239" y="81002"/>
              <a:ext cx="2035073" cy="1280597"/>
            </a:xfrm>
            <a:custGeom>
              <a:avLst/>
              <a:gdLst>
                <a:gd name="csX0" fmla="*/ 0 w 2035073"/>
                <a:gd name="csY0" fmla="*/ 0 h 1280597"/>
                <a:gd name="csX1" fmla="*/ 447716 w 2035073"/>
                <a:gd name="csY1" fmla="*/ 0 h 1280597"/>
                <a:gd name="csX2" fmla="*/ 895432 w 2035073"/>
                <a:gd name="csY2" fmla="*/ 0 h 1280597"/>
                <a:gd name="csX3" fmla="*/ 1343148 w 2035073"/>
                <a:gd name="csY3" fmla="*/ 0 h 1280597"/>
                <a:gd name="csX4" fmla="*/ 2035073 w 2035073"/>
                <a:gd name="csY4" fmla="*/ 0 h 1280597"/>
                <a:gd name="csX5" fmla="*/ 2035073 w 2035073"/>
                <a:gd name="csY5" fmla="*/ 401254 h 1280597"/>
                <a:gd name="csX6" fmla="*/ 2035073 w 2035073"/>
                <a:gd name="csY6" fmla="*/ 802507 h 1280597"/>
                <a:gd name="csX7" fmla="*/ 2035073 w 2035073"/>
                <a:gd name="csY7" fmla="*/ 1280597 h 1280597"/>
                <a:gd name="csX8" fmla="*/ 1526305 w 2035073"/>
                <a:gd name="csY8" fmla="*/ 1280597 h 1280597"/>
                <a:gd name="csX9" fmla="*/ 976835 w 2035073"/>
                <a:gd name="csY9" fmla="*/ 1280597 h 1280597"/>
                <a:gd name="csX10" fmla="*/ 488418 w 2035073"/>
                <a:gd name="csY10" fmla="*/ 1280597 h 1280597"/>
                <a:gd name="csX11" fmla="*/ 0 w 2035073"/>
                <a:gd name="csY11" fmla="*/ 1280597 h 1280597"/>
                <a:gd name="csX12" fmla="*/ 0 w 2035073"/>
                <a:gd name="csY12" fmla="*/ 892149 h 1280597"/>
                <a:gd name="csX13" fmla="*/ 0 w 2035073"/>
                <a:gd name="csY13" fmla="*/ 439672 h 1280597"/>
                <a:gd name="csX14" fmla="*/ 0 w 2035073"/>
                <a:gd name="csY14" fmla="*/ 0 h 128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035073" h="1280597" fill="none" extrusionOk="0">
                  <a:moveTo>
                    <a:pt x="0" y="0"/>
                  </a:moveTo>
                  <a:cubicBezTo>
                    <a:pt x="120833" y="-33468"/>
                    <a:pt x="263378" y="39384"/>
                    <a:pt x="447716" y="0"/>
                  </a:cubicBezTo>
                  <a:cubicBezTo>
                    <a:pt x="632054" y="-39384"/>
                    <a:pt x="757485" y="21332"/>
                    <a:pt x="895432" y="0"/>
                  </a:cubicBezTo>
                  <a:cubicBezTo>
                    <a:pt x="1033379" y="-21332"/>
                    <a:pt x="1240555" y="4178"/>
                    <a:pt x="1343148" y="0"/>
                  </a:cubicBezTo>
                  <a:cubicBezTo>
                    <a:pt x="1445741" y="-4178"/>
                    <a:pt x="1709598" y="20540"/>
                    <a:pt x="2035073" y="0"/>
                  </a:cubicBezTo>
                  <a:cubicBezTo>
                    <a:pt x="2036279" y="187004"/>
                    <a:pt x="1995839" y="221527"/>
                    <a:pt x="2035073" y="401254"/>
                  </a:cubicBezTo>
                  <a:cubicBezTo>
                    <a:pt x="2074307" y="580981"/>
                    <a:pt x="2035001" y="687686"/>
                    <a:pt x="2035073" y="802507"/>
                  </a:cubicBezTo>
                  <a:cubicBezTo>
                    <a:pt x="2035145" y="917328"/>
                    <a:pt x="1979132" y="1050622"/>
                    <a:pt x="2035073" y="1280597"/>
                  </a:cubicBezTo>
                  <a:cubicBezTo>
                    <a:pt x="1911264" y="1280610"/>
                    <a:pt x="1629086" y="1275878"/>
                    <a:pt x="1526305" y="1280597"/>
                  </a:cubicBezTo>
                  <a:cubicBezTo>
                    <a:pt x="1423524" y="1285316"/>
                    <a:pt x="1132058" y="1235677"/>
                    <a:pt x="976835" y="1280597"/>
                  </a:cubicBezTo>
                  <a:cubicBezTo>
                    <a:pt x="821612" y="1325517"/>
                    <a:pt x="662481" y="1226169"/>
                    <a:pt x="488418" y="1280597"/>
                  </a:cubicBezTo>
                  <a:cubicBezTo>
                    <a:pt x="314355" y="1335025"/>
                    <a:pt x="114391" y="1243238"/>
                    <a:pt x="0" y="1280597"/>
                  </a:cubicBezTo>
                  <a:cubicBezTo>
                    <a:pt x="-43423" y="1103508"/>
                    <a:pt x="17670" y="1037525"/>
                    <a:pt x="0" y="892149"/>
                  </a:cubicBezTo>
                  <a:cubicBezTo>
                    <a:pt x="-17670" y="746773"/>
                    <a:pt x="48084" y="613607"/>
                    <a:pt x="0" y="439672"/>
                  </a:cubicBezTo>
                  <a:cubicBezTo>
                    <a:pt x="-48084" y="265737"/>
                    <a:pt x="13892" y="91518"/>
                    <a:pt x="0" y="0"/>
                  </a:cubicBezTo>
                  <a:close/>
                </a:path>
                <a:path w="2035073" h="1280597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1576" y="211260"/>
                    <a:pt x="1986216" y="235685"/>
                    <a:pt x="2035073" y="426866"/>
                  </a:cubicBezTo>
                  <a:cubicBezTo>
                    <a:pt x="2083930" y="618047"/>
                    <a:pt x="2010425" y="704846"/>
                    <a:pt x="2035073" y="853731"/>
                  </a:cubicBezTo>
                  <a:cubicBezTo>
                    <a:pt x="2059721" y="1002616"/>
                    <a:pt x="2016141" y="1143137"/>
                    <a:pt x="2035073" y="1280597"/>
                  </a:cubicBezTo>
                  <a:cubicBezTo>
                    <a:pt x="1917730" y="1324884"/>
                    <a:pt x="1758837" y="1278301"/>
                    <a:pt x="1505954" y="1280597"/>
                  </a:cubicBezTo>
                  <a:cubicBezTo>
                    <a:pt x="1253071" y="1282893"/>
                    <a:pt x="1170175" y="1231782"/>
                    <a:pt x="1058238" y="1280597"/>
                  </a:cubicBezTo>
                  <a:cubicBezTo>
                    <a:pt x="946301" y="1329412"/>
                    <a:pt x="827584" y="1257817"/>
                    <a:pt x="610522" y="1280597"/>
                  </a:cubicBezTo>
                  <a:cubicBezTo>
                    <a:pt x="393460" y="1303377"/>
                    <a:pt x="236069" y="1254144"/>
                    <a:pt x="0" y="1280597"/>
                  </a:cubicBezTo>
                  <a:cubicBezTo>
                    <a:pt x="-21401" y="1179435"/>
                    <a:pt x="30040" y="1044576"/>
                    <a:pt x="0" y="853731"/>
                  </a:cubicBezTo>
                  <a:cubicBezTo>
                    <a:pt x="-30040" y="662886"/>
                    <a:pt x="15645" y="619721"/>
                    <a:pt x="0" y="426866"/>
                  </a:cubicBezTo>
                  <a:cubicBezTo>
                    <a:pt x="-15645" y="234011"/>
                    <a:pt x="19384" y="146333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33" name="Group 10"/>
            <p:cNvGrpSpPr/>
            <p:nvPr/>
          </p:nvGrpSpPr>
          <p:grpSpPr>
            <a:xfrm>
              <a:off x="10087337" y="120576"/>
              <a:ext cx="2035074" cy="1337501"/>
              <a:chOff x="10004776" y="0"/>
              <a:chExt cx="2285547" cy="1337501"/>
            </a:xfrm>
          </p:grpSpPr>
          <p:pic>
            <p:nvPicPr>
              <p:cNvPr id="2097191" name="Picture 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1048656" name="TextBox 4"/>
              <p:cNvSpPr txBox="1"/>
              <p:nvPr/>
            </p:nvSpPr>
            <p:spPr>
              <a:xfrm>
                <a:off x="10923639" y="230061"/>
                <a:ext cx="1366684" cy="11074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2026</a:t>
                </a:r>
              </a:p>
            </p:txBody>
          </p:sp>
        </p:grpSp>
      </p:grpSp>
      <p:sp>
        <p:nvSpPr>
          <p:cNvPr id="1048657" name="Rectangle: Rounded Corners 14"/>
          <p:cNvSpPr/>
          <p:nvPr/>
        </p:nvSpPr>
        <p:spPr>
          <a:xfrm>
            <a:off x="308771" y="1445778"/>
            <a:ext cx="3687098" cy="1966376"/>
          </a:xfrm>
          <a:prstGeom prst="roundRect">
            <a:avLst/>
          </a:prstGeom>
          <a:solidFill>
            <a:srgbClr val="0070C0">
              <a:alpha val="9000"/>
            </a:srgb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58" name="Rectangle: Rounded Corners 16"/>
          <p:cNvSpPr/>
          <p:nvPr/>
        </p:nvSpPr>
        <p:spPr>
          <a:xfrm>
            <a:off x="4206123" y="1445778"/>
            <a:ext cx="3687098" cy="1936699"/>
          </a:xfrm>
          <a:prstGeom prst="roundRect">
            <a:avLst/>
          </a:prstGeom>
          <a:solidFill>
            <a:schemeClr val="accent6">
              <a:lumMod val="50000"/>
              <a:alpha val="7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48659" name="Rectangle: Rounded Corners 18"/>
          <p:cNvSpPr/>
          <p:nvPr/>
        </p:nvSpPr>
        <p:spPr>
          <a:xfrm>
            <a:off x="8174196" y="1456717"/>
            <a:ext cx="3687098" cy="1907022"/>
          </a:xfrm>
          <a:prstGeom prst="roundRect">
            <a:avLst/>
          </a:prstGeom>
          <a:solidFill>
            <a:schemeClr val="accent2">
              <a:lumMod val="75000"/>
              <a:alpha val="6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1048660" name="Rectangle: Rounded Corners 19"/>
          <p:cNvSpPr/>
          <p:nvPr/>
        </p:nvSpPr>
        <p:spPr>
          <a:xfrm>
            <a:off x="308770" y="3525804"/>
            <a:ext cx="11586179" cy="1649097"/>
          </a:xfrm>
          <a:prstGeom prst="roundRect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61" name="Rectangle: Rounded Corners 21"/>
          <p:cNvSpPr/>
          <p:nvPr/>
        </p:nvSpPr>
        <p:spPr>
          <a:xfrm>
            <a:off x="308769" y="5286380"/>
            <a:ext cx="11586181" cy="1422057"/>
          </a:xfrm>
          <a:prstGeom prst="roundRect">
            <a:avLst/>
          </a:prstGeom>
          <a:solidFill>
            <a:schemeClr val="accent1">
              <a:lumMod val="75000"/>
              <a:alpha val="6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9719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04" y="1522813"/>
            <a:ext cx="709088" cy="443951"/>
          </a:xfrm>
          <a:prstGeom prst="rect">
            <a:avLst/>
          </a:prstGeom>
        </p:spPr>
      </p:pic>
      <p:sp>
        <p:nvSpPr>
          <p:cNvPr id="1048662" name="TextBox 25"/>
          <p:cNvSpPr txBox="1"/>
          <p:nvPr/>
        </p:nvSpPr>
        <p:spPr>
          <a:xfrm>
            <a:off x="1669095" y="1549703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dirty="0">
                <a:solidFill>
                  <a:srgbClr val="0070C0"/>
                </a:solidFill>
              </a:rPr>
              <a:t>CITIZENS</a:t>
            </a:r>
          </a:p>
        </p:txBody>
      </p:sp>
      <p:sp>
        <p:nvSpPr>
          <p:cNvPr id="1048663" name="TextBox 27"/>
          <p:cNvSpPr txBox="1"/>
          <p:nvPr/>
        </p:nvSpPr>
        <p:spPr>
          <a:xfrm>
            <a:off x="838199" y="2050652"/>
            <a:ext cx="6327058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Know where &amp; when flooding may occur</a:t>
            </a:r>
          </a:p>
          <a:p>
            <a:endParaRPr lang="en-IN" sz="1400" dirty="0"/>
          </a:p>
          <a:p>
            <a:r>
              <a:rPr lang="en-IN" sz="1400" dirty="0"/>
              <a:t>View 0–3 hour street-level flood forecasts</a:t>
            </a:r>
          </a:p>
          <a:p>
            <a:endParaRPr lang="en-IN" sz="1400" dirty="0"/>
          </a:p>
          <a:p>
            <a:r>
              <a:rPr lang="en-IN" sz="1400" dirty="0"/>
              <a:t>Choose safer route alternatives</a:t>
            </a:r>
          </a:p>
          <a:p>
            <a:endParaRPr lang="en-IN" sz="1400" dirty="0"/>
          </a:p>
        </p:txBody>
      </p:sp>
      <p:sp>
        <p:nvSpPr>
          <p:cNvPr id="1048664" name="TextBox 29"/>
          <p:cNvSpPr txBox="1"/>
          <p:nvPr/>
        </p:nvSpPr>
        <p:spPr>
          <a:xfrm>
            <a:off x="5534236" y="1529995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MUNICIPALITIES</a:t>
            </a:r>
          </a:p>
        </p:txBody>
      </p:sp>
      <p:sp>
        <p:nvSpPr>
          <p:cNvPr id="1048665" name="TextBox 31"/>
          <p:cNvSpPr txBox="1"/>
          <p:nvPr/>
        </p:nvSpPr>
        <p:spPr>
          <a:xfrm>
            <a:off x="4729692" y="2001882"/>
            <a:ext cx="6327058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Identify high-risk streets &amp; drainage nodes</a:t>
            </a:r>
          </a:p>
          <a:p>
            <a:endParaRPr lang="en-IN" sz="1400" dirty="0"/>
          </a:p>
          <a:p>
            <a:r>
              <a:rPr lang="en-IN" sz="1400" dirty="0"/>
              <a:t>Prioritize field response and interventions</a:t>
            </a:r>
          </a:p>
          <a:p>
            <a:endParaRPr lang="en-IN" sz="1400" dirty="0"/>
          </a:p>
          <a:p>
            <a:r>
              <a:rPr lang="en-IN" sz="1400" dirty="0"/>
              <a:t>Monitor forecasted drainage stress</a:t>
            </a:r>
          </a:p>
          <a:p>
            <a:endParaRPr lang="en-IN" sz="1400" dirty="0"/>
          </a:p>
        </p:txBody>
      </p:sp>
      <p:sp>
        <p:nvSpPr>
          <p:cNvPr id="1048666" name="TextBox 33"/>
          <p:cNvSpPr txBox="1"/>
          <p:nvPr/>
        </p:nvSpPr>
        <p:spPr>
          <a:xfrm>
            <a:off x="9126794" y="1541422"/>
            <a:ext cx="6327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EMERGENCY SERVICES</a:t>
            </a:r>
          </a:p>
        </p:txBody>
      </p:sp>
      <p:sp>
        <p:nvSpPr>
          <p:cNvPr id="1048667" name="TextBox 35"/>
          <p:cNvSpPr txBox="1"/>
          <p:nvPr/>
        </p:nvSpPr>
        <p:spPr>
          <a:xfrm>
            <a:off x="8804787" y="2016183"/>
            <a:ext cx="3200400" cy="131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Identify flood-affected / risky routes</a:t>
            </a:r>
          </a:p>
          <a:p>
            <a:endParaRPr lang="en-IN" sz="1400" dirty="0"/>
          </a:p>
          <a:p>
            <a:r>
              <a:rPr lang="en-IN" sz="1400" dirty="0"/>
              <a:t>Use flood-aware route alternatives</a:t>
            </a:r>
          </a:p>
          <a:p>
            <a:endParaRPr lang="en-IN" sz="1400" dirty="0"/>
          </a:p>
          <a:p>
            <a:r>
              <a:rPr lang="en-IN" sz="1400" dirty="0"/>
              <a:t>Improve response planning</a:t>
            </a:r>
          </a:p>
          <a:p>
            <a:endParaRPr lang="en-IN" sz="1400" dirty="0"/>
          </a:p>
        </p:txBody>
      </p:sp>
      <p:pic>
        <p:nvPicPr>
          <p:cNvPr id="2097194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01" y="2028007"/>
            <a:ext cx="396274" cy="1234547"/>
          </a:xfrm>
          <a:prstGeom prst="rect">
            <a:avLst/>
          </a:prstGeom>
        </p:spPr>
      </p:pic>
      <p:pic>
        <p:nvPicPr>
          <p:cNvPr id="2097195" name="Picture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4326" y="1512709"/>
            <a:ext cx="655377" cy="426757"/>
          </a:xfrm>
          <a:prstGeom prst="rect">
            <a:avLst/>
          </a:prstGeom>
        </p:spPr>
      </p:pic>
      <p:pic>
        <p:nvPicPr>
          <p:cNvPr id="2097196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3777" y="1975586"/>
            <a:ext cx="464860" cy="1204064"/>
          </a:xfrm>
          <a:prstGeom prst="rect">
            <a:avLst/>
          </a:prstGeom>
        </p:spPr>
      </p:pic>
      <p:pic>
        <p:nvPicPr>
          <p:cNvPr id="2097197" name="Picture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0210" y="1498095"/>
            <a:ext cx="617273" cy="441998"/>
          </a:xfrm>
          <a:prstGeom prst="rect">
            <a:avLst/>
          </a:prstGeom>
        </p:spPr>
      </p:pic>
      <p:pic>
        <p:nvPicPr>
          <p:cNvPr id="2097198" name="Picture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3655" y="1999058"/>
            <a:ext cx="403895" cy="1204064"/>
          </a:xfrm>
          <a:prstGeom prst="rect">
            <a:avLst/>
          </a:prstGeom>
        </p:spPr>
      </p:pic>
      <p:sp>
        <p:nvSpPr>
          <p:cNvPr id="1048668" name="TextBox 49"/>
          <p:cNvSpPr txBox="1"/>
          <p:nvPr/>
        </p:nvSpPr>
        <p:spPr>
          <a:xfrm>
            <a:off x="5179925" y="3528679"/>
            <a:ext cx="7727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KEY BENEFITS</a:t>
            </a:r>
          </a:p>
        </p:txBody>
      </p:sp>
      <p:cxnSp>
        <p:nvCxnSpPr>
          <p:cNvPr id="3145779" name="Straight Connector 51"/>
          <p:cNvCxnSpPr>
            <a:cxnSpLocks/>
          </p:cNvCxnSpPr>
          <p:nvPr/>
        </p:nvCxnSpPr>
        <p:spPr>
          <a:xfrm>
            <a:off x="2333515" y="3713345"/>
            <a:ext cx="2810552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0" name="Straight Connector 53"/>
          <p:cNvCxnSpPr>
            <a:cxnSpLocks/>
          </p:cNvCxnSpPr>
          <p:nvPr/>
        </p:nvCxnSpPr>
        <p:spPr>
          <a:xfrm>
            <a:off x="6734793" y="3713345"/>
            <a:ext cx="2810552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69" name="Oval 54"/>
          <p:cNvSpPr/>
          <p:nvPr/>
        </p:nvSpPr>
        <p:spPr>
          <a:xfrm>
            <a:off x="9487757" y="3653009"/>
            <a:ext cx="100689" cy="12510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0" name="Oval 56"/>
          <p:cNvSpPr/>
          <p:nvPr/>
        </p:nvSpPr>
        <p:spPr>
          <a:xfrm>
            <a:off x="2283170" y="3650791"/>
            <a:ext cx="100689" cy="125108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1" name="TextBox 58"/>
          <p:cNvSpPr txBox="1"/>
          <p:nvPr/>
        </p:nvSpPr>
        <p:spPr>
          <a:xfrm>
            <a:off x="1091577" y="3856287"/>
            <a:ext cx="7727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  <a:effectLst>
                  <a:outerShdw blurRad="1270000" dist="50800" dir="5400000" algn="ctr" rotWithShape="0">
                    <a:srgbClr val="0070C0">
                      <a:alpha val="0"/>
                    </a:srgbClr>
                  </a:outerShdw>
                </a:effectLst>
              </a:rPr>
              <a:t>SOCIAL</a:t>
            </a:r>
          </a:p>
        </p:txBody>
      </p:sp>
      <p:sp>
        <p:nvSpPr>
          <p:cNvPr id="1048672" name="TextBox 60"/>
          <p:cNvSpPr txBox="1"/>
          <p:nvPr/>
        </p:nvSpPr>
        <p:spPr>
          <a:xfrm>
            <a:off x="1239823" y="4134408"/>
            <a:ext cx="3088398" cy="9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Safer mobility</a:t>
            </a:r>
          </a:p>
          <a:p>
            <a:r>
              <a:rPr lang="en-IN" sz="1400" dirty="0"/>
              <a:t>Better public awareness</a:t>
            </a:r>
          </a:p>
          <a:p>
            <a:r>
              <a:rPr lang="en-IN" sz="1400" dirty="0"/>
              <a:t>Reduced exposure to flood-prone locations</a:t>
            </a:r>
          </a:p>
        </p:txBody>
      </p:sp>
      <p:sp>
        <p:nvSpPr>
          <p:cNvPr id="1048673" name="TextBox 64"/>
          <p:cNvSpPr txBox="1"/>
          <p:nvPr/>
        </p:nvSpPr>
        <p:spPr>
          <a:xfrm>
            <a:off x="5215783" y="3842107"/>
            <a:ext cx="7727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</a:rPr>
              <a:t>ECONOMIC</a:t>
            </a:r>
          </a:p>
        </p:txBody>
      </p:sp>
      <p:sp>
        <p:nvSpPr>
          <p:cNvPr id="1048674" name="TextBox 66"/>
          <p:cNvSpPr txBox="1"/>
          <p:nvPr/>
        </p:nvSpPr>
        <p:spPr>
          <a:xfrm>
            <a:off x="5330078" y="4125412"/>
            <a:ext cx="2714200" cy="110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Help reduce traffic disruption</a:t>
            </a:r>
          </a:p>
          <a:p>
            <a:r>
              <a:rPr lang="en-IN" sz="1400" dirty="0"/>
              <a:t>Support efficient field deployment</a:t>
            </a:r>
          </a:p>
          <a:p>
            <a:r>
              <a:rPr lang="en-IN" sz="1400" dirty="0"/>
              <a:t>Minimize avoidable response delays</a:t>
            </a:r>
          </a:p>
        </p:txBody>
      </p:sp>
      <p:sp>
        <p:nvSpPr>
          <p:cNvPr id="1048675" name="TextBox 70"/>
          <p:cNvSpPr txBox="1"/>
          <p:nvPr/>
        </p:nvSpPr>
        <p:spPr>
          <a:xfrm>
            <a:off x="9427921" y="4161369"/>
            <a:ext cx="4934057" cy="701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Proactive flood preparedness</a:t>
            </a:r>
          </a:p>
          <a:p>
            <a:r>
              <a:rPr lang="en-IN" sz="1400" dirty="0"/>
              <a:t>Better drainage planning</a:t>
            </a:r>
          </a:p>
          <a:p>
            <a:r>
              <a:rPr lang="en-IN" sz="1400" dirty="0"/>
              <a:t>Data-driven urban resilience</a:t>
            </a:r>
          </a:p>
        </p:txBody>
      </p:sp>
      <p:cxnSp>
        <p:nvCxnSpPr>
          <p:cNvPr id="3145781" name="Straight Connector 72"/>
          <p:cNvCxnSpPr>
            <a:cxnSpLocks/>
          </p:cNvCxnSpPr>
          <p:nvPr/>
        </p:nvCxnSpPr>
        <p:spPr>
          <a:xfrm>
            <a:off x="4001781" y="3935119"/>
            <a:ext cx="0" cy="11274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82" name="Straight Connector 73"/>
          <p:cNvCxnSpPr>
            <a:cxnSpLocks/>
          </p:cNvCxnSpPr>
          <p:nvPr/>
        </p:nvCxnSpPr>
        <p:spPr>
          <a:xfrm>
            <a:off x="8137607" y="3902311"/>
            <a:ext cx="0" cy="11274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97199" name="Picture 7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357" y="4133986"/>
            <a:ext cx="686963" cy="865762"/>
          </a:xfrm>
          <a:prstGeom prst="rect">
            <a:avLst/>
          </a:prstGeom>
        </p:spPr>
      </p:pic>
      <p:pic>
        <p:nvPicPr>
          <p:cNvPr id="2097200" name="Picture 7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66779" y="4133986"/>
            <a:ext cx="688349" cy="832183"/>
          </a:xfrm>
          <a:prstGeom prst="rect">
            <a:avLst/>
          </a:prstGeom>
        </p:spPr>
      </p:pic>
      <p:pic>
        <p:nvPicPr>
          <p:cNvPr id="2097201" name="Picture 7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4525" y="4125697"/>
            <a:ext cx="714460" cy="734035"/>
          </a:xfrm>
          <a:prstGeom prst="rect">
            <a:avLst/>
          </a:prstGeom>
        </p:spPr>
      </p:pic>
      <p:sp>
        <p:nvSpPr>
          <p:cNvPr id="1048676" name="Oval 80"/>
          <p:cNvSpPr/>
          <p:nvPr/>
        </p:nvSpPr>
        <p:spPr>
          <a:xfrm>
            <a:off x="1216963" y="470456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7" name="Oval 82"/>
          <p:cNvSpPr/>
          <p:nvPr/>
        </p:nvSpPr>
        <p:spPr>
          <a:xfrm>
            <a:off x="1216964" y="4492884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8" name="Oval 84"/>
          <p:cNvSpPr/>
          <p:nvPr/>
        </p:nvSpPr>
        <p:spPr>
          <a:xfrm>
            <a:off x="1216964" y="427243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79" name="Oval 86"/>
          <p:cNvSpPr/>
          <p:nvPr/>
        </p:nvSpPr>
        <p:spPr>
          <a:xfrm>
            <a:off x="5277361" y="469580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0" name="Oval 88"/>
          <p:cNvSpPr/>
          <p:nvPr/>
        </p:nvSpPr>
        <p:spPr>
          <a:xfrm>
            <a:off x="5270364" y="447599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1" name="Oval 90"/>
          <p:cNvSpPr/>
          <p:nvPr/>
        </p:nvSpPr>
        <p:spPr>
          <a:xfrm>
            <a:off x="5270365" y="4272435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2" name="Oval 92"/>
          <p:cNvSpPr/>
          <p:nvPr/>
        </p:nvSpPr>
        <p:spPr>
          <a:xfrm>
            <a:off x="9382010" y="4732205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3" name="Oval 94"/>
          <p:cNvSpPr/>
          <p:nvPr/>
        </p:nvSpPr>
        <p:spPr>
          <a:xfrm>
            <a:off x="9382011" y="450784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4" name="Oval 96"/>
          <p:cNvSpPr/>
          <p:nvPr/>
        </p:nvSpPr>
        <p:spPr>
          <a:xfrm>
            <a:off x="9382012" y="4306556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8685" name="TextBox 98"/>
          <p:cNvSpPr txBox="1"/>
          <p:nvPr/>
        </p:nvSpPr>
        <p:spPr>
          <a:xfrm>
            <a:off x="5204658" y="5293144"/>
            <a:ext cx="8400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IMPACT CHAIN</a:t>
            </a:r>
          </a:p>
        </p:txBody>
      </p:sp>
      <p:cxnSp>
        <p:nvCxnSpPr>
          <p:cNvPr id="3145783" name="Straight Connector 100"/>
          <p:cNvCxnSpPr>
            <a:cxnSpLocks/>
          </p:cNvCxnSpPr>
          <p:nvPr/>
        </p:nvCxnSpPr>
        <p:spPr>
          <a:xfrm>
            <a:off x="2784022" y="5477810"/>
            <a:ext cx="2360045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4" name="Straight Connector 101"/>
          <p:cNvCxnSpPr>
            <a:cxnSpLocks/>
          </p:cNvCxnSpPr>
          <p:nvPr/>
        </p:nvCxnSpPr>
        <p:spPr>
          <a:xfrm>
            <a:off x="6816130" y="5477810"/>
            <a:ext cx="2360045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202" name="Picture 10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240" y="5597619"/>
            <a:ext cx="1098967" cy="720014"/>
          </a:xfrm>
          <a:prstGeom prst="rect">
            <a:avLst/>
          </a:prstGeom>
        </p:spPr>
      </p:pic>
      <p:pic>
        <p:nvPicPr>
          <p:cNvPr id="2097203" name="Picture 10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07155" y="5609127"/>
            <a:ext cx="1098968" cy="720012"/>
          </a:xfrm>
          <a:prstGeom prst="rect">
            <a:avLst/>
          </a:prstGeom>
        </p:spPr>
      </p:pic>
      <p:pic>
        <p:nvPicPr>
          <p:cNvPr id="2097204" name="Picture 10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9105" y="5609135"/>
            <a:ext cx="1121559" cy="720013"/>
          </a:xfrm>
          <a:prstGeom prst="rect">
            <a:avLst/>
          </a:prstGeom>
        </p:spPr>
      </p:pic>
      <p:pic>
        <p:nvPicPr>
          <p:cNvPr id="2097205" name="Picture 10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93221" y="5568012"/>
            <a:ext cx="1026806" cy="720009"/>
          </a:xfrm>
          <a:prstGeom prst="rect">
            <a:avLst/>
          </a:prstGeom>
        </p:spPr>
      </p:pic>
      <p:pic>
        <p:nvPicPr>
          <p:cNvPr id="2097206" name="Picture 11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87336" y="5609126"/>
            <a:ext cx="1026806" cy="678895"/>
          </a:xfrm>
          <a:prstGeom prst="rect">
            <a:avLst/>
          </a:prstGeom>
        </p:spPr>
      </p:pic>
      <p:sp>
        <p:nvSpPr>
          <p:cNvPr id="1048686" name="TextBox 113"/>
          <p:cNvSpPr txBox="1"/>
          <p:nvPr/>
        </p:nvSpPr>
        <p:spPr>
          <a:xfrm>
            <a:off x="518424" y="6313563"/>
            <a:ext cx="8400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Rainfall Nowcast</a:t>
            </a:r>
          </a:p>
        </p:txBody>
      </p:sp>
      <p:sp>
        <p:nvSpPr>
          <p:cNvPr id="1048687" name="TextBox 115"/>
          <p:cNvSpPr txBox="1"/>
          <p:nvPr/>
        </p:nvSpPr>
        <p:spPr>
          <a:xfrm>
            <a:off x="2849556" y="6345869"/>
            <a:ext cx="84004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Flood Forecast </a:t>
            </a:r>
          </a:p>
        </p:txBody>
      </p:sp>
      <p:sp>
        <p:nvSpPr>
          <p:cNvPr id="1048688" name="TextBox 117"/>
          <p:cNvSpPr txBox="1"/>
          <p:nvPr/>
        </p:nvSpPr>
        <p:spPr>
          <a:xfrm>
            <a:off x="5144067" y="6354690"/>
            <a:ext cx="1989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Risk Awareness</a:t>
            </a:r>
          </a:p>
        </p:txBody>
      </p:sp>
      <p:sp>
        <p:nvSpPr>
          <p:cNvPr id="1048689" name="TextBox 119"/>
          <p:cNvSpPr txBox="1"/>
          <p:nvPr/>
        </p:nvSpPr>
        <p:spPr>
          <a:xfrm>
            <a:off x="9264873" y="3833588"/>
            <a:ext cx="7727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URBAN RESILIENCE</a:t>
            </a:r>
          </a:p>
        </p:txBody>
      </p:sp>
      <p:sp>
        <p:nvSpPr>
          <p:cNvPr id="1048690" name="TextBox 121"/>
          <p:cNvSpPr txBox="1"/>
          <p:nvPr/>
        </p:nvSpPr>
        <p:spPr>
          <a:xfrm>
            <a:off x="7613354" y="6339105"/>
            <a:ext cx="849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Better Decisions</a:t>
            </a:r>
          </a:p>
        </p:txBody>
      </p:sp>
      <p:sp>
        <p:nvSpPr>
          <p:cNvPr id="1048691" name="TextBox 123"/>
          <p:cNvSpPr txBox="1"/>
          <p:nvPr/>
        </p:nvSpPr>
        <p:spPr>
          <a:xfrm>
            <a:off x="9758922" y="6244641"/>
            <a:ext cx="1848059" cy="624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Faster Response</a:t>
            </a:r>
          </a:p>
        </p:txBody>
      </p:sp>
      <p:cxnSp>
        <p:nvCxnSpPr>
          <p:cNvPr id="3145785" name="Straight Arrow Connector 125"/>
          <p:cNvCxnSpPr>
            <a:cxnSpLocks/>
          </p:cNvCxnSpPr>
          <p:nvPr/>
        </p:nvCxnSpPr>
        <p:spPr>
          <a:xfrm>
            <a:off x="2283170" y="5937013"/>
            <a:ext cx="525191" cy="0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6" name="Straight Arrow Connector 126"/>
          <p:cNvCxnSpPr>
            <a:cxnSpLocks/>
          </p:cNvCxnSpPr>
          <p:nvPr/>
        </p:nvCxnSpPr>
        <p:spPr>
          <a:xfrm>
            <a:off x="9176175" y="5897359"/>
            <a:ext cx="525191" cy="0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7" name="Straight Arrow Connector 127"/>
          <p:cNvCxnSpPr>
            <a:cxnSpLocks/>
          </p:cNvCxnSpPr>
          <p:nvPr/>
        </p:nvCxnSpPr>
        <p:spPr>
          <a:xfrm>
            <a:off x="6902661" y="5930263"/>
            <a:ext cx="525191" cy="0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88" name="Straight Arrow Connector 128"/>
          <p:cNvCxnSpPr>
            <a:cxnSpLocks/>
          </p:cNvCxnSpPr>
          <p:nvPr/>
        </p:nvCxnSpPr>
        <p:spPr>
          <a:xfrm>
            <a:off x="4467096" y="5957626"/>
            <a:ext cx="525191" cy="0"/>
          </a:xfrm>
          <a:prstGeom prst="straightConnector1">
            <a:avLst/>
          </a:prstGeom>
          <a:ln w="254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1"/>
          <p:cNvGrpSpPr/>
          <p:nvPr/>
        </p:nvGrpSpPr>
        <p:grpSpPr>
          <a:xfrm>
            <a:off x="88491" y="176460"/>
            <a:ext cx="6601245" cy="523220"/>
            <a:chOff x="88491" y="307087"/>
            <a:chExt cx="6601245" cy="523220"/>
          </a:xfrm>
        </p:grpSpPr>
        <p:sp>
          <p:nvSpPr>
            <p:cNvPr id="1048692" name="TextBox 6"/>
            <p:cNvSpPr txBox="1"/>
            <p:nvPr/>
          </p:nvSpPr>
          <p:spPr>
            <a:xfrm>
              <a:off x="88491" y="307087"/>
              <a:ext cx="292040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800" dirty="0" err="1">
                  <a:solidFill>
                    <a:schemeClr val="accent2">
                      <a:lumMod val="75000"/>
                    </a:schemeClr>
                  </a:solidFill>
                  <a:latin typeface="Blackadder ITC" panose="04020505051007020D02" pitchFamily="82" charset="0"/>
                </a:rPr>
                <a:t>Out</a:t>
              </a:r>
              <a:r>
                <a:rPr lang="en-IN" sz="1200" b="1" dirty="0" err="1">
                  <a:solidFill>
                    <a:schemeClr val="accent1">
                      <a:lumMod val="75000"/>
                    </a:schemeClr>
                  </a:solidFill>
                  <a:latin typeface="Arial Black" panose="020B0A04020102020204" pitchFamily="34" charset="0"/>
                </a:rPr>
                <a:t>Thinkers</a:t>
              </a:r>
              <a:endParaRPr lang="en-IN" sz="1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048693" name="TextBox 8"/>
            <p:cNvSpPr txBox="1"/>
            <p:nvPr/>
          </p:nvSpPr>
          <p:spPr>
            <a:xfrm>
              <a:off x="343014" y="315981"/>
              <a:ext cx="6346722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050" b="1" dirty="0">
                  <a:solidFill>
                    <a:schemeClr val="accent1">
                      <a:lumMod val="75000"/>
                    </a:schemeClr>
                  </a:solidFill>
                  <a:latin typeface="Bookman Old Style" panose="02050604050505020204" pitchFamily="18" charset="0"/>
                </a:rPr>
                <a:t> The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8840" y="164592"/>
            <a:ext cx="78181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u="none" dirty="0">
                <a:solidFill>
                  <a:srgbClr val="121212"/>
                </a:solidFill>
                <a:latin typeface="Georgia"/>
              </a:rPr>
              <a:t>RESEARCH &amp; </a:t>
            </a:r>
            <a:r>
              <a:rPr sz="3200" b="1" i="0" u="none" dirty="0">
                <a:solidFill>
                  <a:srgbClr val="121212"/>
                </a:solidFill>
                <a:latin typeface="Georgia"/>
              </a:rPr>
              <a:t>REFERENCES</a:t>
            </a:r>
            <a:endParaRPr sz="2400" b="1" i="0" u="none" dirty="0">
              <a:solidFill>
                <a:srgbClr val="121212"/>
              </a:solidFill>
              <a:latin typeface="Georgia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358384" y="822791"/>
            <a:ext cx="0" cy="4407408"/>
          </a:xfrm>
          <a:prstGeom prst="line">
            <a:avLst/>
          </a:prstGeom>
          <a:ln w="10795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" y="877824"/>
            <a:ext cx="53035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u="sng" dirty="0">
                <a:solidFill>
                  <a:srgbClr val="121212"/>
                </a:solidFill>
                <a:latin typeface="Arial"/>
              </a:rPr>
              <a:t>RESEARCH</a:t>
            </a:r>
            <a:endParaRPr sz="1500" b="1" i="0" u="sng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78985" y="867121"/>
            <a:ext cx="5349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i="0" u="sng" dirty="0">
                <a:solidFill>
                  <a:srgbClr val="121212"/>
                </a:solidFill>
                <a:latin typeface="Arial"/>
              </a:rPr>
              <a:t>DATA SOURCES &amp;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197864"/>
            <a:ext cx="53218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 i="0" u="none">
                <a:solidFill>
                  <a:srgbClr val="121212"/>
                </a:solidFill>
                <a:latin typeface="Arial"/>
              </a:rPr>
              <a:t>1. Real-Time Urban Flood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399032"/>
            <a:ext cx="504748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u="none" dirty="0" err="1">
                <a:solidFill>
                  <a:srgbClr val="484848"/>
                </a:solidFill>
                <a:latin typeface="Arial"/>
              </a:rPr>
              <a:t>Piadeh</a:t>
            </a:r>
            <a:r>
              <a:rPr sz="795" b="0" i="0" u="none" dirty="0">
                <a:solidFill>
                  <a:srgbClr val="484848"/>
                </a:solidFill>
                <a:latin typeface="Arial"/>
              </a:rPr>
              <a:t>, </a:t>
            </a:r>
            <a:r>
              <a:rPr sz="795" b="0" i="0" u="none" dirty="0" err="1">
                <a:solidFill>
                  <a:srgbClr val="484848"/>
                </a:solidFill>
                <a:latin typeface="Arial"/>
              </a:rPr>
              <a:t>Behzadian</a:t>
            </a:r>
            <a:r>
              <a:rPr sz="795" b="0" i="0" u="none" dirty="0">
                <a:solidFill>
                  <a:srgbClr val="484848"/>
                </a:solidFill>
                <a:latin typeface="Arial"/>
              </a:rPr>
              <a:t> &amp; Alani (2022)  |  Journal of Hydrology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554480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https://doi.org/10.1016/j.jhydrol.2022.127476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737360"/>
            <a:ext cx="504748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 dirty="0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Real-time modelling and forecasting in urban drainage </a:t>
            </a:r>
            <a:r>
              <a:rPr sz="1050" b="0" i="0" u="none" dirty="0">
                <a:solidFill>
                  <a:srgbClr val="484848"/>
                </a:solidFill>
                <a:latin typeface="Arial"/>
              </a:rPr>
              <a:t>systems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084831"/>
            <a:ext cx="53218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 i="0" u="none" dirty="0">
                <a:solidFill>
                  <a:srgbClr val="121212"/>
                </a:solidFill>
                <a:latin typeface="Arial"/>
              </a:rPr>
              <a:t>2. Rainfall–Runoff &amp; Surface Flood Modelling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286000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5" b="0" i="0" u="none" dirty="0">
                <a:solidFill>
                  <a:srgbClr val="484848"/>
                </a:solidFill>
                <a:latin typeface="Arial"/>
              </a:rPr>
              <a:t>Yang, Ma &amp; Zhang (2022)  |  Water,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MDPI</a:t>
            </a:r>
            <a:endParaRPr sz="795" b="0" i="0" u="none" dirty="0">
              <a:solidFill>
                <a:srgbClr val="484848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2441448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https://doi.org/10.3390/w14111760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624328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 dirty="0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Coupling drainage modelling with </a:t>
            </a:r>
            <a:r>
              <a:rPr lang="en-US" sz="900" dirty="0">
                <a:solidFill>
                  <a:srgbClr val="484848"/>
                </a:solidFill>
                <a:latin typeface="Arial"/>
              </a:rPr>
              <a:t>Surface Runoff &amp;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fl</a:t>
            </a:r>
            <a:r>
              <a:rPr lang="en-US" sz="900" b="0" i="0" u="none" dirty="0">
                <a:solidFill>
                  <a:srgbClr val="484848"/>
                </a:solidFill>
                <a:latin typeface="Arial"/>
              </a:rPr>
              <a:t>ow Estimation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532180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 i="0" u="none" dirty="0">
                <a:solidFill>
                  <a:srgbClr val="121212"/>
                </a:solidFill>
                <a:latin typeface="Arial"/>
              </a:rPr>
              <a:t>3. Surface Flooding &amp; Sewer Interaction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172968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95" b="0" i="0" u="none" dirty="0" err="1">
                <a:solidFill>
                  <a:srgbClr val="484848"/>
                </a:solidFill>
                <a:latin typeface="Arial"/>
              </a:rPr>
              <a:t>Oberauer</a:t>
            </a:r>
            <a:r>
              <a:rPr sz="795" b="0" i="0" u="none" dirty="0">
                <a:solidFill>
                  <a:srgbClr val="484848"/>
                </a:solidFill>
                <a:latin typeface="Arial"/>
              </a:rPr>
              <a:t> &amp; Lehmann (2023)  |  Journal of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Hydrology</a:t>
            </a:r>
            <a:endParaRPr sz="795" b="0" i="0" u="none" dirty="0">
              <a:solidFill>
                <a:srgbClr val="484848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3328416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https://doi.org/10.1016/j.jhydrol.2023.130053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11296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Urban surface flow and drainage performance.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858768"/>
            <a:ext cx="5321808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" b="1" i="0" u="none" dirty="0">
                <a:solidFill>
                  <a:srgbClr val="121212"/>
                </a:solidFill>
                <a:latin typeface="Arial"/>
              </a:rPr>
              <a:t>4. Physics-Based &amp; </a:t>
            </a:r>
            <a:r>
              <a:rPr sz="1050" b="1" i="0" u="none" dirty="0">
                <a:solidFill>
                  <a:srgbClr val="121212"/>
                </a:solidFill>
                <a:latin typeface="Arial"/>
              </a:rPr>
              <a:t>ML</a:t>
            </a:r>
            <a:r>
              <a:rPr sz="935" b="1" i="0" u="none" dirty="0">
                <a:solidFill>
                  <a:srgbClr val="121212"/>
                </a:solidFill>
                <a:latin typeface="Arial"/>
              </a:rPr>
              <a:t> Approaches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059935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84848"/>
                </a:solidFill>
                <a:latin typeface="Arial"/>
              </a:rPr>
              <a:t>Anik, An &amp; Li (2025)  |  Environmental Systems 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215383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https://doi.org/10.1186/s40068-025-00409-3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398264"/>
            <a:ext cx="5047488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Physical-process and ML approaches for urban flood prediction.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129" y="1197864"/>
            <a:ext cx="53400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 dirty="0">
                <a:solidFill>
                  <a:srgbClr val="121212"/>
                </a:solidFill>
                <a:latin typeface="Arial"/>
              </a:rPr>
              <a:t>1. ISRO / NRSC — </a:t>
            </a:r>
            <a:r>
              <a:rPr sz="1050" b="1" i="0" u="none" dirty="0" err="1">
                <a:solidFill>
                  <a:srgbClr val="121212"/>
                </a:solidFill>
                <a:latin typeface="Arial"/>
              </a:rPr>
              <a:t>CartoDEM</a:t>
            </a:r>
            <a:r>
              <a:rPr sz="1050" b="1" i="0" u="none" dirty="0">
                <a:solidFill>
                  <a:srgbClr val="121212"/>
                </a:solidFill>
                <a:latin typeface="Arial"/>
              </a:rPr>
              <a:t> (30 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0176" y="1409514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484848"/>
                </a:solidFill>
                <a:latin typeface="Arial"/>
              </a:rPr>
              <a:t>Bhuvan / </a:t>
            </a:r>
            <a:r>
              <a:rPr sz="900" b="0" i="0" u="none" dirty="0" err="1">
                <a:solidFill>
                  <a:srgbClr val="484848"/>
                </a:solidFill>
                <a:latin typeface="Arial"/>
              </a:rPr>
              <a:t>Bhoonidhi</a:t>
            </a:r>
            <a:endParaRPr sz="900" b="0" i="0" u="none" dirty="0">
              <a:solidFill>
                <a:srgbClr val="484848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20176" y="1564914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 dirty="0">
                <a:solidFill>
                  <a:srgbClr val="194F87"/>
                </a:solidFill>
                <a:latin typeface="Arial"/>
              </a:rPr>
              <a:t>https://bhuvan.nrsc.gov.in   |   https://bhoonidhi.nrsc.gov.in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9276" y="1736692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Terrain, elevation and slope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8129" y="2019407"/>
            <a:ext cx="53400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u="none" dirty="0">
                <a:solidFill>
                  <a:srgbClr val="121212"/>
                </a:solidFill>
                <a:latin typeface="Arial"/>
              </a:rPr>
              <a:t>2. </a:t>
            </a:r>
            <a:r>
              <a:rPr sz="1050" b="1" i="0" u="none" dirty="0">
                <a:solidFill>
                  <a:srgbClr val="121212"/>
                </a:solidFill>
                <a:latin typeface="Arial"/>
              </a:rPr>
              <a:t>OpenStreetMap</a:t>
            </a:r>
            <a:r>
              <a:rPr sz="919" b="1" i="0" u="none" dirty="0">
                <a:solidFill>
                  <a:srgbClr val="121212"/>
                </a:solidFill>
                <a:latin typeface="Arial"/>
              </a:rPr>
              <a:t> + Overpass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8936" y="2210727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https://www.openstreetmap.org   |   https://overpass-api.de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28936" y="2432255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Road and drainage/waterway network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1776" y="2759797"/>
            <a:ext cx="5340096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dirty="0">
                <a:solidFill>
                  <a:srgbClr val="121212"/>
                </a:solidFill>
                <a:latin typeface="Arial"/>
              </a:rPr>
              <a:t>3. </a:t>
            </a:r>
            <a:r>
              <a:rPr sz="1100" b="1" i="0" u="none" dirty="0" err="1">
                <a:solidFill>
                  <a:srgbClr val="121212"/>
                </a:solidFill>
                <a:latin typeface="Arial"/>
              </a:rPr>
              <a:t>OpenWeatherMap</a:t>
            </a:r>
            <a:endParaRPr sz="1000" b="1" i="0" u="none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57900" y="2983268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 dirty="0">
                <a:solidFill>
                  <a:srgbClr val="194F87"/>
                </a:solidFill>
                <a:latin typeface="Arial"/>
              </a:rPr>
              <a:t>https://openweathermap.org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20176" y="3153656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Live weather and precipitation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1776" y="3407904"/>
            <a:ext cx="5340096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u="none" dirty="0">
                <a:solidFill>
                  <a:srgbClr val="121212"/>
                </a:solidFill>
                <a:latin typeface="Arial"/>
              </a:rPr>
              <a:t>4. Open-</a:t>
            </a:r>
            <a:r>
              <a:rPr sz="1000" b="1" i="0" u="none" dirty="0" err="1">
                <a:solidFill>
                  <a:srgbClr val="121212"/>
                </a:solidFill>
                <a:latin typeface="Arial"/>
              </a:rPr>
              <a:t>Meteo</a:t>
            </a:r>
            <a:endParaRPr sz="1000" b="1" i="0" u="none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028936" y="3655693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https://open-meteo.com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9276" y="3886380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>
                <a:solidFill>
                  <a:srgbClr val="484848"/>
                </a:solidFill>
                <a:latin typeface="Arial"/>
              </a:rPr>
              <a:t>Precipitation forecast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1776" y="4117642"/>
            <a:ext cx="5340096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 u="none" dirty="0">
                <a:solidFill>
                  <a:srgbClr val="121212"/>
                </a:solidFill>
                <a:latin typeface="Arial"/>
              </a:rPr>
              <a:t>5. </a:t>
            </a:r>
            <a:r>
              <a:rPr sz="1050" b="1" i="0" u="none" dirty="0">
                <a:solidFill>
                  <a:srgbClr val="121212"/>
                </a:solidFill>
                <a:latin typeface="Arial"/>
              </a:rPr>
              <a:t>OSRM</a:t>
            </a:r>
            <a:r>
              <a:rPr sz="919" b="1" i="0" u="none" dirty="0">
                <a:solidFill>
                  <a:srgbClr val="121212"/>
                </a:solidFill>
                <a:latin typeface="Arial"/>
              </a:rPr>
              <a:t> — Open Source Routing Machine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28936" y="4426413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sng">
                <a:solidFill>
                  <a:srgbClr val="194F87"/>
                </a:solidFill>
                <a:latin typeface="Arial"/>
              </a:rPr>
              <a:t>https://router.project-osrm.org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5965" y="4678632"/>
            <a:ext cx="506577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 dirty="0">
                <a:solidFill>
                  <a:srgbClr val="121212"/>
                </a:solidFill>
                <a:latin typeface="Arial"/>
              </a:rPr>
              <a:t>•  </a:t>
            </a:r>
            <a:r>
              <a:rPr sz="900" b="0" i="0" u="none" dirty="0">
                <a:solidFill>
                  <a:srgbClr val="484848"/>
                </a:solidFill>
                <a:latin typeface="Arial"/>
              </a:rPr>
              <a:t>Road routing and route evaluation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29768" y="5404104"/>
            <a:ext cx="11329416" cy="0"/>
          </a:xfrm>
          <a:prstGeom prst="line">
            <a:avLst/>
          </a:prstGeom>
          <a:ln w="10795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48056" y="553212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10" b="1" i="0" u="sng">
                <a:solidFill>
                  <a:srgbClr val="121212"/>
                </a:solidFill>
                <a:latin typeface="Arial"/>
              </a:rPr>
              <a:t>PROJECT REPOSITORY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" y="5815584"/>
            <a:ext cx="34015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 u="none">
                <a:solidFill>
                  <a:srgbClr val="484848"/>
                </a:solidFill>
                <a:latin typeface="Arial"/>
              </a:rPr>
              <a:t>Scan the QR code or visit the link to explore the source code,
datasets and documentation.</a:t>
            </a:r>
          </a:p>
        </p:txBody>
      </p:sp>
      <p:cxnSp>
        <p:nvCxnSpPr>
          <p:cNvPr id="52" name="Connector 51"/>
          <p:cNvCxnSpPr>
            <a:cxnSpLocks/>
          </p:cNvCxnSpPr>
          <p:nvPr/>
        </p:nvCxnSpPr>
        <p:spPr>
          <a:xfrm>
            <a:off x="5358384" y="5486400"/>
            <a:ext cx="0" cy="884903"/>
          </a:xfrm>
          <a:prstGeom prst="line">
            <a:avLst/>
          </a:prstGeom>
          <a:ln w="8890">
            <a:solidFill>
              <a:srgbClr val="434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632704" y="5532120"/>
            <a:ext cx="2011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40" b="1" i="0" u="none">
                <a:solidFill>
                  <a:srgbClr val="484848"/>
                </a:solidFill>
                <a:latin typeface="Arial"/>
              </a:rPr>
              <a:t>GitHub Repository: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32703" y="5788152"/>
            <a:ext cx="4096505" cy="173736"/>
          </a:xfrm>
          <a:prstGeom prst="rect">
            <a:avLst/>
          </a:prstGeom>
          <a:solidFill>
            <a:srgbClr val="DE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2004" rtlCol="0" anchor="ctr"/>
          <a:lstStyle/>
          <a:p>
            <a:pPr algn="ctr"/>
            <a:r>
              <a:rPr lang="en-IN" sz="910" u="sng" dirty="0">
                <a:solidFill>
                  <a:srgbClr val="194F87"/>
                </a:solidFill>
                <a:latin typeface="Arial"/>
                <a:hlinkClick r:id="rId2"/>
              </a:rPr>
              <a:t>https://github.com/vyom-kushvaha/sih-26085-urban-flood-nowcasting.git</a:t>
            </a:r>
            <a:endParaRPr sz="910" u="sng" dirty="0">
              <a:solidFill>
                <a:srgbClr val="194F87"/>
              </a:solidFill>
              <a:latin typeface="Arial"/>
              <a:hlinkClick r:id="rId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893808" y="5650992"/>
            <a:ext cx="1536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 i="1" u="none">
                <a:solidFill>
                  <a:srgbClr val="484848"/>
                </a:solidFill>
                <a:latin typeface="Georgia"/>
              </a:rPr>
              <a:t>Turning data into early warnings
and safer decisions.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287000" y="6099048"/>
            <a:ext cx="685800" cy="0"/>
          </a:xfrm>
          <a:prstGeom prst="line">
            <a:avLst/>
          </a:prstGeom>
          <a:ln w="15240">
            <a:solidFill>
              <a:srgbClr val="153F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29768" y="6379833"/>
            <a:ext cx="11201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 dirty="0">
                <a:solidFill>
                  <a:srgbClr val="919191"/>
                </a:solidFill>
                <a:latin typeface="Arial"/>
              </a:rPr>
              <a:t>  Research and references  •  Smart India Hackathon </a:t>
            </a:r>
            <a:r>
              <a:rPr b="0" i="0" u="none" dirty="0">
                <a:solidFill>
                  <a:srgbClr val="919191"/>
                </a:solidFill>
                <a:latin typeface="Arial"/>
              </a:rPr>
              <a:t>2026</a:t>
            </a:r>
            <a:endParaRPr sz="560" b="0" i="0" u="none" dirty="0">
              <a:solidFill>
                <a:srgbClr val="919191"/>
              </a:solidFill>
              <a:latin typeface="Arial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9B3FB33C-DAC2-66F2-8567-90C75A8BD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27" y="5513833"/>
            <a:ext cx="744651" cy="744651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70CC39ED-68E7-7003-EBE3-F5565B3EEF2D}"/>
              </a:ext>
            </a:extLst>
          </p:cNvPr>
          <p:cNvSpPr txBox="1"/>
          <p:nvPr/>
        </p:nvSpPr>
        <p:spPr>
          <a:xfrm>
            <a:off x="88491" y="176460"/>
            <a:ext cx="29204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 err="1">
                <a:solidFill>
                  <a:schemeClr val="accent2">
                    <a:lumMod val="75000"/>
                  </a:schemeClr>
                </a:solidFill>
                <a:latin typeface="Blackadder ITC" panose="04020505051007020D02" pitchFamily="82" charset="0"/>
              </a:rPr>
              <a:t>Out</a:t>
            </a:r>
            <a:r>
              <a:rPr lang="en-IN" sz="1600" b="1" dirty="0" err="1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Thinkers</a:t>
            </a:r>
            <a:endParaRPr lang="en-IN" sz="12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DB0A4-38FA-DBEC-0DA9-C459FCF76306}"/>
              </a:ext>
            </a:extLst>
          </p:cNvPr>
          <p:cNvSpPr txBox="1"/>
          <p:nvPr/>
        </p:nvSpPr>
        <p:spPr>
          <a:xfrm>
            <a:off x="427901" y="176164"/>
            <a:ext cx="6115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IN" sz="12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The</a:t>
            </a:r>
            <a:endParaRPr lang="en-IN" sz="105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grpSp>
        <p:nvGrpSpPr>
          <p:cNvPr id="8" name="Group 20">
            <a:extLst>
              <a:ext uri="{FF2B5EF4-FFF2-40B4-BE49-F238E27FC236}">
                <a16:creationId xmlns:a16="http://schemas.microsoft.com/office/drawing/2014/main" id="{4CF2E444-9EB1-85C3-626B-CECCCE227F38}"/>
              </a:ext>
            </a:extLst>
          </p:cNvPr>
          <p:cNvGrpSpPr/>
          <p:nvPr/>
        </p:nvGrpSpPr>
        <p:grpSpPr>
          <a:xfrm>
            <a:off x="9886434" y="129074"/>
            <a:ext cx="2055172" cy="1377075"/>
            <a:chOff x="10067239" y="81002"/>
            <a:chExt cx="2055172" cy="1776537"/>
          </a:xfrm>
        </p:grpSpPr>
        <p:sp>
          <p:nvSpPr>
            <p:cNvPr id="9" name="Rectangle 17">
              <a:extLst>
                <a:ext uri="{FF2B5EF4-FFF2-40B4-BE49-F238E27FC236}">
                  <a16:creationId xmlns:a16="http://schemas.microsoft.com/office/drawing/2014/main" id="{FC975771-206B-DC70-5B2B-431653B9905F}"/>
                </a:ext>
              </a:extLst>
            </p:cNvPr>
            <p:cNvSpPr/>
            <p:nvPr/>
          </p:nvSpPr>
          <p:spPr>
            <a:xfrm>
              <a:off x="10067239" y="81002"/>
              <a:ext cx="2035073" cy="1280597"/>
            </a:xfrm>
            <a:custGeom>
              <a:avLst/>
              <a:gdLst>
                <a:gd name="csX0" fmla="*/ 0 w 2035073"/>
                <a:gd name="csY0" fmla="*/ 0 h 1280597"/>
                <a:gd name="csX1" fmla="*/ 447716 w 2035073"/>
                <a:gd name="csY1" fmla="*/ 0 h 1280597"/>
                <a:gd name="csX2" fmla="*/ 895432 w 2035073"/>
                <a:gd name="csY2" fmla="*/ 0 h 1280597"/>
                <a:gd name="csX3" fmla="*/ 1343148 w 2035073"/>
                <a:gd name="csY3" fmla="*/ 0 h 1280597"/>
                <a:gd name="csX4" fmla="*/ 2035073 w 2035073"/>
                <a:gd name="csY4" fmla="*/ 0 h 1280597"/>
                <a:gd name="csX5" fmla="*/ 2035073 w 2035073"/>
                <a:gd name="csY5" fmla="*/ 401254 h 1280597"/>
                <a:gd name="csX6" fmla="*/ 2035073 w 2035073"/>
                <a:gd name="csY6" fmla="*/ 802507 h 1280597"/>
                <a:gd name="csX7" fmla="*/ 2035073 w 2035073"/>
                <a:gd name="csY7" fmla="*/ 1280597 h 1280597"/>
                <a:gd name="csX8" fmla="*/ 1526305 w 2035073"/>
                <a:gd name="csY8" fmla="*/ 1280597 h 1280597"/>
                <a:gd name="csX9" fmla="*/ 976835 w 2035073"/>
                <a:gd name="csY9" fmla="*/ 1280597 h 1280597"/>
                <a:gd name="csX10" fmla="*/ 488418 w 2035073"/>
                <a:gd name="csY10" fmla="*/ 1280597 h 1280597"/>
                <a:gd name="csX11" fmla="*/ 0 w 2035073"/>
                <a:gd name="csY11" fmla="*/ 1280597 h 1280597"/>
                <a:gd name="csX12" fmla="*/ 0 w 2035073"/>
                <a:gd name="csY12" fmla="*/ 892149 h 1280597"/>
                <a:gd name="csX13" fmla="*/ 0 w 2035073"/>
                <a:gd name="csY13" fmla="*/ 439672 h 1280597"/>
                <a:gd name="csX14" fmla="*/ 0 w 2035073"/>
                <a:gd name="csY14" fmla="*/ 0 h 12805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035073" h="1280597" fill="none" extrusionOk="0">
                  <a:moveTo>
                    <a:pt x="0" y="0"/>
                  </a:moveTo>
                  <a:cubicBezTo>
                    <a:pt x="120833" y="-33468"/>
                    <a:pt x="263378" y="39384"/>
                    <a:pt x="447716" y="0"/>
                  </a:cubicBezTo>
                  <a:cubicBezTo>
                    <a:pt x="632054" y="-39384"/>
                    <a:pt x="757485" y="21332"/>
                    <a:pt x="895432" y="0"/>
                  </a:cubicBezTo>
                  <a:cubicBezTo>
                    <a:pt x="1033379" y="-21332"/>
                    <a:pt x="1240555" y="4178"/>
                    <a:pt x="1343148" y="0"/>
                  </a:cubicBezTo>
                  <a:cubicBezTo>
                    <a:pt x="1445741" y="-4178"/>
                    <a:pt x="1709598" y="20540"/>
                    <a:pt x="2035073" y="0"/>
                  </a:cubicBezTo>
                  <a:cubicBezTo>
                    <a:pt x="2036279" y="187004"/>
                    <a:pt x="1995839" y="221527"/>
                    <a:pt x="2035073" y="401254"/>
                  </a:cubicBezTo>
                  <a:cubicBezTo>
                    <a:pt x="2074307" y="580981"/>
                    <a:pt x="2035001" y="687686"/>
                    <a:pt x="2035073" y="802507"/>
                  </a:cubicBezTo>
                  <a:cubicBezTo>
                    <a:pt x="2035145" y="917328"/>
                    <a:pt x="1979132" y="1050622"/>
                    <a:pt x="2035073" y="1280597"/>
                  </a:cubicBezTo>
                  <a:cubicBezTo>
                    <a:pt x="1911264" y="1280610"/>
                    <a:pt x="1629086" y="1275878"/>
                    <a:pt x="1526305" y="1280597"/>
                  </a:cubicBezTo>
                  <a:cubicBezTo>
                    <a:pt x="1423524" y="1285316"/>
                    <a:pt x="1132058" y="1235677"/>
                    <a:pt x="976835" y="1280597"/>
                  </a:cubicBezTo>
                  <a:cubicBezTo>
                    <a:pt x="821612" y="1325517"/>
                    <a:pt x="662481" y="1226169"/>
                    <a:pt x="488418" y="1280597"/>
                  </a:cubicBezTo>
                  <a:cubicBezTo>
                    <a:pt x="314355" y="1335025"/>
                    <a:pt x="114391" y="1243238"/>
                    <a:pt x="0" y="1280597"/>
                  </a:cubicBezTo>
                  <a:cubicBezTo>
                    <a:pt x="-43423" y="1103508"/>
                    <a:pt x="17670" y="1037525"/>
                    <a:pt x="0" y="892149"/>
                  </a:cubicBezTo>
                  <a:cubicBezTo>
                    <a:pt x="-17670" y="746773"/>
                    <a:pt x="48084" y="613607"/>
                    <a:pt x="0" y="439672"/>
                  </a:cubicBezTo>
                  <a:cubicBezTo>
                    <a:pt x="-48084" y="265737"/>
                    <a:pt x="13892" y="91518"/>
                    <a:pt x="0" y="0"/>
                  </a:cubicBezTo>
                  <a:close/>
                </a:path>
                <a:path w="2035073" h="1280597" stroke="0" extrusionOk="0">
                  <a:moveTo>
                    <a:pt x="0" y="0"/>
                  </a:moveTo>
                  <a:cubicBezTo>
                    <a:pt x="228433" y="-22840"/>
                    <a:pt x="294327" y="28256"/>
                    <a:pt x="468067" y="0"/>
                  </a:cubicBezTo>
                  <a:cubicBezTo>
                    <a:pt x="641807" y="-28256"/>
                    <a:pt x="890676" y="61803"/>
                    <a:pt x="997186" y="0"/>
                  </a:cubicBezTo>
                  <a:cubicBezTo>
                    <a:pt x="1103696" y="-61803"/>
                    <a:pt x="1335097" y="1205"/>
                    <a:pt x="1546655" y="0"/>
                  </a:cubicBezTo>
                  <a:cubicBezTo>
                    <a:pt x="1758213" y="-1205"/>
                    <a:pt x="1836221" y="53620"/>
                    <a:pt x="2035073" y="0"/>
                  </a:cubicBezTo>
                  <a:cubicBezTo>
                    <a:pt x="2061576" y="211260"/>
                    <a:pt x="1986216" y="235685"/>
                    <a:pt x="2035073" y="426866"/>
                  </a:cubicBezTo>
                  <a:cubicBezTo>
                    <a:pt x="2083930" y="618047"/>
                    <a:pt x="2010425" y="704846"/>
                    <a:pt x="2035073" y="853731"/>
                  </a:cubicBezTo>
                  <a:cubicBezTo>
                    <a:pt x="2059721" y="1002616"/>
                    <a:pt x="2016141" y="1143137"/>
                    <a:pt x="2035073" y="1280597"/>
                  </a:cubicBezTo>
                  <a:cubicBezTo>
                    <a:pt x="1917730" y="1324884"/>
                    <a:pt x="1758837" y="1278301"/>
                    <a:pt x="1505954" y="1280597"/>
                  </a:cubicBezTo>
                  <a:cubicBezTo>
                    <a:pt x="1253071" y="1282893"/>
                    <a:pt x="1170175" y="1231782"/>
                    <a:pt x="1058238" y="1280597"/>
                  </a:cubicBezTo>
                  <a:cubicBezTo>
                    <a:pt x="946301" y="1329412"/>
                    <a:pt x="827584" y="1257817"/>
                    <a:pt x="610522" y="1280597"/>
                  </a:cubicBezTo>
                  <a:cubicBezTo>
                    <a:pt x="393460" y="1303377"/>
                    <a:pt x="236069" y="1254144"/>
                    <a:pt x="0" y="1280597"/>
                  </a:cubicBezTo>
                  <a:cubicBezTo>
                    <a:pt x="-21401" y="1179435"/>
                    <a:pt x="30040" y="1044576"/>
                    <a:pt x="0" y="853731"/>
                  </a:cubicBezTo>
                  <a:cubicBezTo>
                    <a:pt x="-30040" y="662886"/>
                    <a:pt x="15645" y="619721"/>
                    <a:pt x="0" y="426866"/>
                  </a:cubicBezTo>
                  <a:cubicBezTo>
                    <a:pt x="-15645" y="234011"/>
                    <a:pt x="19384" y="146333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10" name="Group 10">
              <a:extLst>
                <a:ext uri="{FF2B5EF4-FFF2-40B4-BE49-F238E27FC236}">
                  <a16:creationId xmlns:a16="http://schemas.microsoft.com/office/drawing/2014/main" id="{52E9A486-8CFF-4E64-1F19-9A82B1AA69C3}"/>
                </a:ext>
              </a:extLst>
            </p:cNvPr>
            <p:cNvGrpSpPr/>
            <p:nvPr/>
          </p:nvGrpSpPr>
          <p:grpSpPr>
            <a:xfrm>
              <a:off x="10087337" y="120576"/>
              <a:ext cx="2035074" cy="1736963"/>
              <a:chOff x="10004776" y="0"/>
              <a:chExt cx="2285547" cy="1736963"/>
            </a:xfrm>
          </p:grpSpPr>
          <p:pic>
            <p:nvPicPr>
              <p:cNvPr id="11" name="Picture 3">
                <a:extLst>
                  <a:ext uri="{FF2B5EF4-FFF2-40B4-BE49-F238E27FC236}">
                    <a16:creationId xmlns:a16="http://schemas.microsoft.com/office/drawing/2014/main" id="{91D390DD-472D-381F-1194-409BC7EB21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04776" y="0"/>
                <a:ext cx="1191926" cy="1191926"/>
              </a:xfrm>
              <a:prstGeom prst="rect">
                <a:avLst/>
              </a:prstGeom>
            </p:spPr>
          </p:pic>
          <p:sp>
            <p:nvSpPr>
              <p:cNvPr id="12" name="TextBox 4">
                <a:extLst>
                  <a:ext uri="{FF2B5EF4-FFF2-40B4-BE49-F238E27FC236}">
                    <a16:creationId xmlns:a16="http://schemas.microsoft.com/office/drawing/2014/main" id="{41DD15D2-32DD-3B29-7F81-759B8615284D}"/>
                  </a:ext>
                </a:extLst>
              </p:cNvPr>
              <p:cNvSpPr txBox="1"/>
              <p:nvPr/>
            </p:nvSpPr>
            <p:spPr>
              <a:xfrm>
                <a:off x="10923639" y="230061"/>
                <a:ext cx="1366684" cy="1506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SMART INDIA             HACKATHON </a:t>
                </a:r>
              </a:p>
              <a:p>
                <a:r>
                  <a:rPr lang="en-IN" sz="1400" b="1" dirty="0">
                    <a:solidFill>
                      <a:schemeClr val="accent1">
                        <a:lumMod val="75000"/>
                      </a:schemeClr>
                    </a:solidFill>
                  </a:rPr>
                  <a:t>      2026</a:t>
                </a:r>
              </a:p>
            </p:txBody>
          </p:sp>
        </p:grpSp>
      </p:grp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CED13A9B-7CC6-4911-A803-1A62F61CB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22854"/>
              </p:ext>
            </p:extLst>
          </p:nvPr>
        </p:nvGraphicFramePr>
        <p:xfrm>
          <a:off x="8632723" y="2711820"/>
          <a:ext cx="3451123" cy="2505454"/>
        </p:xfrm>
        <a:graphic>
          <a:graphicData uri="http://schemas.openxmlformats.org/drawingml/2006/table">
            <a:tbl>
              <a:tblPr/>
              <a:tblGrid>
                <a:gridCol w="3451123">
                  <a:extLst>
                    <a:ext uri="{9D8B030D-6E8A-4147-A177-3AD203B41FA5}">
                      <a16:colId xmlns:a16="http://schemas.microsoft.com/office/drawing/2014/main" val="3950423658"/>
                    </a:ext>
                  </a:extLst>
                </a:gridCol>
              </a:tblGrid>
              <a:tr h="2505454">
                <a:tc>
                  <a:txBody>
                    <a:bodyPr/>
                    <a:lstStyle/>
                    <a:p>
                      <a:r>
                        <a:rPr lang="en-IN" b="1" dirty="0"/>
                        <a:t> View Detailed Report</a:t>
                      </a:r>
                    </a:p>
                    <a:p>
                      <a:endParaRPr lang="en-IN" b="1" dirty="0"/>
                    </a:p>
                    <a:p>
                      <a:r>
                        <a:rPr lang="en-IN" sz="1400" b="0" dirty="0">
                          <a:hlinkClick r:id="rId5"/>
                        </a:rPr>
                        <a:t>https://docs.google.com/document/d/19qORQzDj_TlJYGB8Bng7_z4AOPrNlrw-/edit?usp=sharing&amp;ouid=116236032653346115359&amp;rtpof=true&amp;sd=true</a:t>
                      </a:r>
                      <a:br>
                        <a:rPr lang="en-IN" sz="1400" b="0" dirty="0"/>
                      </a:br>
                      <a:br>
                        <a:rPr lang="en-IN" sz="1400" b="0" dirty="0"/>
                      </a:br>
                      <a:endParaRPr lang="en-IN" sz="1400" b="0" dirty="0"/>
                    </a:p>
                    <a:p>
                      <a:r>
                        <a:rPr lang="en-IN" sz="1400" b="0" dirty="0"/>
                        <a:t>     QR Code of Report : </a:t>
                      </a:r>
                      <a:br>
                        <a:rPr lang="en-IN" sz="1400" b="0" dirty="0"/>
                      </a:br>
                      <a:endParaRPr lang="en-IN" sz="1400" b="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ysDash"/>
                    </a:lnL>
                    <a:lnR w="12700" cmpd="sng">
                      <a:solidFill>
                        <a:schemeClr val="tx1"/>
                      </a:solidFill>
                      <a:prstDash val="sysDash"/>
                    </a:lnR>
                    <a:lnT w="12700" cmpd="sng">
                      <a:solidFill>
                        <a:schemeClr val="tx1"/>
                      </a:solidFill>
                      <a:prstDash val="sysDash"/>
                    </a:lnT>
                    <a:lnB w="12700" cmpd="sng">
                      <a:solidFill>
                        <a:schemeClr val="tx1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515792"/>
                  </a:ext>
                </a:extLst>
              </a:tr>
            </a:tbl>
          </a:graphicData>
        </a:graphic>
      </p:graphicFrame>
      <p:pic>
        <p:nvPicPr>
          <p:cNvPr id="66" name="Picture 65">
            <a:extLst>
              <a:ext uri="{FF2B5EF4-FFF2-40B4-BE49-F238E27FC236}">
                <a16:creationId xmlns:a16="http://schemas.microsoft.com/office/drawing/2014/main" id="{EBA52710-7B58-799D-611B-9F1DF3D68C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244" y="4107685"/>
            <a:ext cx="1060592" cy="10605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1205</Words>
  <Application>Microsoft Office PowerPoint</Application>
  <PresentationFormat>Widescreen</PresentationFormat>
  <Paragraphs>327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Arial Black</vt:lpstr>
      <vt:lpstr>Blackadder ITC</vt:lpstr>
      <vt:lpstr>Bookman Old Style</vt:lpstr>
      <vt:lpstr>Calibri</vt:lpstr>
      <vt:lpstr>Calibri Light</vt:lpstr>
      <vt:lpstr>Georgia</vt:lpstr>
      <vt:lpstr>New SEC Num Fixed VF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27</cp:revision>
  <dcterms:created xsi:type="dcterms:W3CDTF">2026-08-31T13:44:59Z</dcterms:created>
  <dcterms:modified xsi:type="dcterms:W3CDTF">2026-09-14T12:45:03Z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4296c59159654570a0e167f2dfcd5a8d_23</vt:lpwstr>
  </property>
</Properties>
</file>